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10287000" cx="18288000"/>
  <p:notesSz cx="10287000" cy="18288000"/>
  <p:embeddedFontLst>
    <p:embeddedFont>
      <p:font typeface="Source Serif 4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font" Target="fonts/SourceSerif4-regular.fntdata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SourceSerif4-italic.fntdata"/><Relationship Id="rId23" Type="http://schemas.openxmlformats.org/officeDocument/2006/relationships/slide" Target="slides/slide19.xml"/><Relationship Id="rId45" Type="http://schemas.openxmlformats.org/officeDocument/2006/relationships/font" Target="fonts/SourceSerif4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SourceSerif4-bold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8" name="Google Shape;46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0" name="Google Shape;48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7" name="Google Shape;59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6" name="Google Shape;61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6" name="Google Shape;65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7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Relationship Id="rId4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6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0.png"/><Relationship Id="rId4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1.png"/><Relationship Id="rId4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8.png"/><Relationship Id="rId4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569541" y="1623417"/>
            <a:ext cx="16630084" cy="6252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6900"/>
              <a:buFont typeface="Source Serif 4"/>
              <a:buNone/>
            </a:pPr>
            <a:r>
              <a:rPr b="1" i="0" lang="en-US" sz="69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한·일 지역별 고령화와 의료·돌봄 인프라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600200" y="2610594"/>
            <a:ext cx="6539171" cy="1581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103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3150"/>
              <a:buFont typeface="Source Serif 4"/>
              <a:buNone/>
            </a:pPr>
            <a:r>
              <a:rPr b="0" i="0" lang="en-US" sz="3150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측정 방법이 결론을 바꾸는가 — 한국 17개 시·도와 일본 47개 도도부현의 지역 단위 비교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410075" y="190500"/>
            <a:ext cx="6096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25000">
                <a:srgbClr val="0088B0"/>
              </a:gs>
              <a:gs pos="50000">
                <a:srgbClr val="D6006C"/>
              </a:gs>
              <a:gs pos="75000">
                <a:srgbClr val="EDBB00"/>
              </a:gs>
              <a:gs pos="100000">
                <a:srgbClr val="201E1D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목차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1600200" y="3190280"/>
            <a:ext cx="318195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2356545" y="3075384"/>
            <a:ext cx="4138776" cy="306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24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150"/>
              <a:buFont typeface="Source Serif 4"/>
              <a:buNone/>
            </a:pPr>
            <a:r>
              <a:rPr b="0" i="0" lang="en-US" sz="31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연구 배경과 연구 질문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1600200" y="4218980"/>
            <a:ext cx="318195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2356545" y="4104084"/>
            <a:ext cx="3080058" cy="306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24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150"/>
              <a:buFont typeface="Source Serif 4"/>
              <a:buNone/>
            </a:pPr>
            <a:r>
              <a:rPr b="0" i="0" lang="en-US" sz="31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데이터와 방법론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600200" y="5247680"/>
            <a:ext cx="318195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2356545" y="5132784"/>
            <a:ext cx="5596295" cy="306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24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150"/>
              <a:buFont typeface="Source Serif 4"/>
              <a:buNone/>
            </a:pPr>
            <a:r>
              <a:rPr b="0" i="0" lang="en-US" sz="31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결과 — 최종 선정 시각화 10장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600200" y="6276380"/>
            <a:ext cx="318195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356545" y="6161484"/>
            <a:ext cx="5660142" cy="306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24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150"/>
              <a:buFont typeface="Source Serif 4"/>
              <a:buNone/>
            </a:pPr>
            <a:r>
              <a:rPr b="0" i="0" lang="en-US" sz="31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논의 — 세 연구 질문에 대한 답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600200" y="7305080"/>
            <a:ext cx="318195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356545" y="7190184"/>
            <a:ext cx="3184341" cy="306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24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150"/>
              <a:buFont typeface="Source Serif 4"/>
              <a:buNone/>
            </a:pPr>
            <a:r>
              <a:rPr b="0" i="0" lang="en-US" sz="31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결론과 정책 제언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1600200" y="8333780"/>
            <a:ext cx="318195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356545" y="8218884"/>
            <a:ext cx="3221668" cy="3061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24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150"/>
              <a:buFont typeface="Source Serif 4"/>
              <a:buNone/>
            </a:pPr>
            <a:r>
              <a:rPr b="0" i="0" lang="en-US" sz="31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부록 — 백업 자료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7724" y="9771906"/>
            <a:ext cx="130076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6524319" y="-10287000"/>
            <a:ext cx="18136210" cy="20574000"/>
          </a:xfrm>
          <a:prstGeom prst="rect">
            <a:avLst/>
          </a:prstGeom>
          <a:gradFill>
            <a:gsLst>
              <a:gs pos="0">
                <a:srgbClr val="EDBB00"/>
              </a:gs>
              <a:gs pos="50000">
                <a:srgbClr val="EDBB00"/>
              </a:gs>
              <a:gs pos="100000">
                <a:srgbClr val="EDBB0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 rot="900000">
            <a:off x="6574065" y="-10287000"/>
            <a:ext cx="18135603" cy="20574000"/>
          </a:xfrm>
          <a:prstGeom prst="rect">
            <a:avLst/>
          </a:prstGeom>
          <a:gradFill>
            <a:gsLst>
              <a:gs pos="0">
                <a:srgbClr val="0088B0"/>
              </a:gs>
              <a:gs pos="50000">
                <a:srgbClr val="0088B0"/>
              </a:gs>
              <a:gs pos="100000">
                <a:srgbClr val="0088B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 rot="4500000">
            <a:off x="6535459" y="-10287000"/>
            <a:ext cx="18135603" cy="20574000"/>
          </a:xfrm>
          <a:prstGeom prst="rect">
            <a:avLst/>
          </a:prstGeom>
          <a:gradFill>
            <a:gsLst>
              <a:gs pos="0">
                <a:srgbClr val="D6006C"/>
              </a:gs>
              <a:gs pos="50000">
                <a:srgbClr val="D6006C"/>
              </a:gs>
              <a:gs pos="100000">
                <a:srgbClr val="D6006C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4133850" y="190500"/>
            <a:ext cx="152400" cy="152400"/>
          </a:xfrm>
          <a:prstGeom prst="rect">
            <a:avLst/>
          </a:prstGeom>
          <a:solidFill>
            <a:srgbClr val="0088B0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4276725" y="190500"/>
            <a:ext cx="152400" cy="152400"/>
          </a:xfrm>
          <a:prstGeom prst="rect">
            <a:avLst/>
          </a:prstGeom>
          <a:solidFill>
            <a:srgbClr val="D6006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4419600" y="190500"/>
            <a:ext cx="152400" cy="152400"/>
          </a:xfrm>
          <a:prstGeom prst="rect">
            <a:avLst/>
          </a:prstGeom>
          <a:solidFill>
            <a:srgbClr val="EDBB00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4562475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4705350" y="190500"/>
            <a:ext cx="152400" cy="152400"/>
          </a:xfrm>
          <a:prstGeom prst="rect">
            <a:avLst/>
          </a:prstGeom>
          <a:gradFill>
            <a:gsLst>
              <a:gs pos="0">
                <a:srgbClr val="D6006C"/>
              </a:gs>
              <a:gs pos="100000">
                <a:srgbClr val="D6006C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4848225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4991100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5133975" y="190500"/>
            <a:ext cx="152400" cy="152400"/>
          </a:xfrm>
          <a:prstGeom prst="rect">
            <a:avLst/>
          </a:prstGeom>
          <a:solidFill>
            <a:srgbClr val="201E1D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3990975" y="9944100"/>
            <a:ext cx="152400" cy="152400"/>
          </a:xfrm>
          <a:prstGeom prst="rect">
            <a:avLst/>
          </a:prstGeom>
          <a:solidFill>
            <a:srgbClr val="201E1D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133850" y="9944100"/>
            <a:ext cx="152400" cy="152400"/>
          </a:xfrm>
          <a:prstGeom prst="rect">
            <a:avLst/>
          </a:prstGeom>
          <a:solidFill>
            <a:srgbClr val="373534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276725" y="9944100"/>
            <a:ext cx="152400" cy="152400"/>
          </a:xfrm>
          <a:prstGeom prst="rect">
            <a:avLst/>
          </a:prstGeom>
          <a:solidFill>
            <a:srgbClr val="4E4D4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419600" y="9944100"/>
            <a:ext cx="152400" cy="152400"/>
          </a:xfrm>
          <a:prstGeom prst="rect">
            <a:avLst/>
          </a:prstGeom>
          <a:solidFill>
            <a:srgbClr val="666463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4562475" y="9944100"/>
            <a:ext cx="152400" cy="152400"/>
          </a:xfrm>
          <a:prstGeom prst="rect">
            <a:avLst/>
          </a:prstGeom>
          <a:solidFill>
            <a:srgbClr val="7D7B7B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4705350" y="9944100"/>
            <a:ext cx="152400" cy="152400"/>
          </a:xfrm>
          <a:prstGeom prst="rect">
            <a:avLst/>
          </a:prstGeom>
          <a:solidFill>
            <a:srgbClr val="969594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4848225" y="9944100"/>
            <a:ext cx="152400" cy="152400"/>
          </a:xfrm>
          <a:prstGeom prst="rect">
            <a:avLst/>
          </a:prstGeom>
          <a:solidFill>
            <a:srgbClr val="ADACA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991100" y="9944100"/>
            <a:ext cx="152400" cy="152400"/>
          </a:xfrm>
          <a:prstGeom prst="rect">
            <a:avLst/>
          </a:prstGeom>
          <a:solidFill>
            <a:srgbClr val="C5C3C3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133975" y="9944100"/>
            <a:ext cx="152400" cy="152400"/>
          </a:xfrm>
          <a:prstGeom prst="rect">
            <a:avLst/>
          </a:prstGeom>
          <a:solidFill>
            <a:srgbClr val="DCDBDB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276850" y="9944100"/>
            <a:ext cx="152400" cy="152400"/>
          </a:xfrm>
          <a:prstGeom prst="rect">
            <a:avLst/>
          </a:prstGeom>
          <a:solidFill>
            <a:srgbClr val="F3F2F2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1580257" y="1674614"/>
            <a:ext cx="5783744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연구 배경과 연구 질문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075581" y="4492079"/>
            <a:ext cx="4155430" cy="3120182"/>
          </a:xfrm>
          <a:prstGeom prst="rect">
            <a:avLst/>
          </a:prstGeom>
          <a:solidFill>
            <a:srgbClr val="F3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1486942" y="3648075"/>
            <a:ext cx="3665979" cy="474345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100000" dist="150290">
              <a:srgbClr val="F3F2F2"/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F3F2F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486942" y="4903440"/>
            <a:ext cx="3665979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587919" y="4996752"/>
            <a:ext cx="3665979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D6006C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D6006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1358176" y="4832160"/>
            <a:ext cx="3665979" cy="2335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EDBB00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EDBB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01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일본은 고령화 수준이 높고, 한국은 속도가 빠르다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600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수준과 속도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600200" y="3761929"/>
            <a:ext cx="7299198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일본은 이미 높은 고령화율에서 완만하게 증가하고, 한국은 상대적으로 낮은 고령화율에서 출발해 빠르게 격차를 좁히고 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1600200" y="5562005"/>
            <a:ext cx="729919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2015~2023년 평균 고령화율은 한국 13.8% → 19.6%, 일본 28.3% → 31.6%로 변화했다.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601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 평균의 한계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9601200" y="3761929"/>
            <a:ext cx="729919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의료·돌봄 인프라 확충 예산은 국가 단위가 아니라 지역 단위에서 배정된다.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9601200" y="5047655"/>
            <a:ext cx="729919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한국 17개 시·도와 일본 47개 도도부현, 총 64개 지역으로 내려가야 국가 평균 뒤에 숨어 있는 편차가 드러난다.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7724" y="9771906"/>
            <a:ext cx="130076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같은 데이터에서 결론이 세 차례 뒤집혔다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600200" y="3247579"/>
            <a:ext cx="4861560" cy="247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사례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1600200" y="3542407"/>
            <a:ext cx="145390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비교 기간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1600200" y="4179391"/>
            <a:ext cx="4552188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마지막 관측 연도를 한 해 줄이자 “한국이 일본의 약 2배”가 “약 1.8배”로 바뀌었다.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6934200" y="3247579"/>
            <a:ext cx="4861560" cy="247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사례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6934200" y="3542407"/>
            <a:ext cx="145390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비교 단위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934200" y="4179391"/>
            <a:ext cx="4552188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64개 지역을 한 줄로 세우면 취약지역 상위 15곳이 전부 일본으로 채워졌다.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12268200" y="3247579"/>
            <a:ext cx="4861560" cy="247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사례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12268200" y="3542407"/>
            <a:ext cx="145390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지표 정의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2268200" y="4179391"/>
            <a:ext cx="4552188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국가별로는 양의 상관, 두 나라를 합치면 음의 상관 — 부호 자체가 뒤집혔다.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1600200" y="6770191"/>
            <a:ext cx="12611413" cy="7247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946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세 사례는 우연한 계산 오류가 아니라, 국가 간·지역 간 비교 연구에서 구조적으로 발생하는 측정 방법의</a:t>
            </a:r>
            <a:r>
              <a:rPr lang="en-US" sz="2025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</a:t>
            </a:r>
            <a:r>
              <a:rPr b="0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문제다.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7724" y="9771906"/>
            <a:ext cx="130076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연구 질문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1600200" y="2561034"/>
            <a:ext cx="10620903" cy="133483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103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3150"/>
              <a:buFont typeface="Source Serif 4"/>
              <a:buNone/>
            </a:pPr>
            <a:r>
              <a:rPr b="0" i="1" lang="en-US" sz="31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“동일한 데이터라도 비교 단위·지표 정의·비교 기간을 어떻게 설정하느냐에 따라 정책적으로 상반된 결론에 도달할 수 있는가?”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1360170" y="4913858"/>
            <a:ext cx="12698730" cy="33539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RQ1 · 비교 기간 — 고령화 “속도” 비교는 분석 기간 설정에 얼마나 민감한가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RQ2 · 비교 단위 — 취약 지역 식별에서 64개 전체 비교와 국가 내부 비교 중 어느 쪽이 타당한가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RQ3 · 지표 정의 — 국가 간 통계 정의가 다를 때 상관관계 같은 기초 통계량도 신뢰할 수 있는가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7724" y="9771906"/>
            <a:ext cx="130076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/>
          <p:cNvSpPr/>
          <p:nvPr/>
        </p:nvSpPr>
        <p:spPr>
          <a:xfrm>
            <a:off x="6524319" y="-10287000"/>
            <a:ext cx="18136210" cy="20574000"/>
          </a:xfrm>
          <a:prstGeom prst="rect">
            <a:avLst/>
          </a:prstGeom>
          <a:gradFill>
            <a:gsLst>
              <a:gs pos="0">
                <a:srgbClr val="EDBB00"/>
              </a:gs>
              <a:gs pos="50000">
                <a:srgbClr val="EDBB00"/>
              </a:gs>
              <a:gs pos="100000">
                <a:srgbClr val="EDBB0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9"/>
          <p:cNvSpPr/>
          <p:nvPr/>
        </p:nvSpPr>
        <p:spPr>
          <a:xfrm rot="900000">
            <a:off x="6574065" y="-10287000"/>
            <a:ext cx="18135603" cy="20574000"/>
          </a:xfrm>
          <a:prstGeom prst="rect">
            <a:avLst/>
          </a:prstGeom>
          <a:gradFill>
            <a:gsLst>
              <a:gs pos="0">
                <a:srgbClr val="0088B0"/>
              </a:gs>
              <a:gs pos="50000">
                <a:srgbClr val="0088B0"/>
              </a:gs>
              <a:gs pos="100000">
                <a:srgbClr val="0088B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"/>
          <p:cNvSpPr/>
          <p:nvPr/>
        </p:nvSpPr>
        <p:spPr>
          <a:xfrm rot="4500000">
            <a:off x="6535459" y="-10287000"/>
            <a:ext cx="18135603" cy="20574000"/>
          </a:xfrm>
          <a:prstGeom prst="rect">
            <a:avLst/>
          </a:prstGeom>
          <a:gradFill>
            <a:gsLst>
              <a:gs pos="0">
                <a:srgbClr val="D6006C"/>
              </a:gs>
              <a:gs pos="50000">
                <a:srgbClr val="D6006C"/>
              </a:gs>
              <a:gs pos="100000">
                <a:srgbClr val="D6006C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"/>
          <p:cNvSpPr/>
          <p:nvPr/>
        </p:nvSpPr>
        <p:spPr>
          <a:xfrm>
            <a:off x="4133850" y="190500"/>
            <a:ext cx="152400" cy="152400"/>
          </a:xfrm>
          <a:prstGeom prst="rect">
            <a:avLst/>
          </a:prstGeom>
          <a:solidFill>
            <a:srgbClr val="0088B0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"/>
          <p:cNvSpPr/>
          <p:nvPr/>
        </p:nvSpPr>
        <p:spPr>
          <a:xfrm>
            <a:off x="4276725" y="190500"/>
            <a:ext cx="152400" cy="152400"/>
          </a:xfrm>
          <a:prstGeom prst="rect">
            <a:avLst/>
          </a:prstGeom>
          <a:solidFill>
            <a:srgbClr val="D6006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9"/>
          <p:cNvSpPr/>
          <p:nvPr/>
        </p:nvSpPr>
        <p:spPr>
          <a:xfrm>
            <a:off x="4419600" y="190500"/>
            <a:ext cx="152400" cy="152400"/>
          </a:xfrm>
          <a:prstGeom prst="rect">
            <a:avLst/>
          </a:prstGeom>
          <a:solidFill>
            <a:srgbClr val="EDBB00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4562475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"/>
          <p:cNvSpPr/>
          <p:nvPr/>
        </p:nvSpPr>
        <p:spPr>
          <a:xfrm>
            <a:off x="4705350" y="190500"/>
            <a:ext cx="152400" cy="152400"/>
          </a:xfrm>
          <a:prstGeom prst="rect">
            <a:avLst/>
          </a:prstGeom>
          <a:gradFill>
            <a:gsLst>
              <a:gs pos="0">
                <a:srgbClr val="D6006C"/>
              </a:gs>
              <a:gs pos="100000">
                <a:srgbClr val="D6006C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9"/>
          <p:cNvSpPr/>
          <p:nvPr/>
        </p:nvSpPr>
        <p:spPr>
          <a:xfrm>
            <a:off x="4848225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991100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"/>
          <p:cNvSpPr/>
          <p:nvPr/>
        </p:nvSpPr>
        <p:spPr>
          <a:xfrm>
            <a:off x="5133975" y="190500"/>
            <a:ext cx="152400" cy="152400"/>
          </a:xfrm>
          <a:prstGeom prst="rect">
            <a:avLst/>
          </a:prstGeom>
          <a:solidFill>
            <a:srgbClr val="201E1D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"/>
          <p:cNvSpPr/>
          <p:nvPr/>
        </p:nvSpPr>
        <p:spPr>
          <a:xfrm>
            <a:off x="3990975" y="9944100"/>
            <a:ext cx="152400" cy="152400"/>
          </a:xfrm>
          <a:prstGeom prst="rect">
            <a:avLst/>
          </a:prstGeom>
          <a:solidFill>
            <a:srgbClr val="201E1D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4133850" y="9944100"/>
            <a:ext cx="152400" cy="152400"/>
          </a:xfrm>
          <a:prstGeom prst="rect">
            <a:avLst/>
          </a:prstGeom>
          <a:solidFill>
            <a:srgbClr val="373534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9"/>
          <p:cNvSpPr/>
          <p:nvPr/>
        </p:nvSpPr>
        <p:spPr>
          <a:xfrm>
            <a:off x="4276725" y="9944100"/>
            <a:ext cx="152400" cy="152400"/>
          </a:xfrm>
          <a:prstGeom prst="rect">
            <a:avLst/>
          </a:prstGeom>
          <a:solidFill>
            <a:srgbClr val="4E4D4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"/>
          <p:cNvSpPr/>
          <p:nvPr/>
        </p:nvSpPr>
        <p:spPr>
          <a:xfrm>
            <a:off x="4419600" y="9944100"/>
            <a:ext cx="152400" cy="152400"/>
          </a:xfrm>
          <a:prstGeom prst="rect">
            <a:avLst/>
          </a:prstGeom>
          <a:solidFill>
            <a:srgbClr val="666463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"/>
          <p:cNvSpPr/>
          <p:nvPr/>
        </p:nvSpPr>
        <p:spPr>
          <a:xfrm>
            <a:off x="4562475" y="9944100"/>
            <a:ext cx="152400" cy="152400"/>
          </a:xfrm>
          <a:prstGeom prst="rect">
            <a:avLst/>
          </a:prstGeom>
          <a:solidFill>
            <a:srgbClr val="7D7B7B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4705350" y="9944100"/>
            <a:ext cx="152400" cy="152400"/>
          </a:xfrm>
          <a:prstGeom prst="rect">
            <a:avLst/>
          </a:prstGeom>
          <a:solidFill>
            <a:srgbClr val="969594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4848225" y="9944100"/>
            <a:ext cx="152400" cy="152400"/>
          </a:xfrm>
          <a:prstGeom prst="rect">
            <a:avLst/>
          </a:prstGeom>
          <a:solidFill>
            <a:srgbClr val="ADACA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4991100" y="9944100"/>
            <a:ext cx="152400" cy="152400"/>
          </a:xfrm>
          <a:prstGeom prst="rect">
            <a:avLst/>
          </a:prstGeom>
          <a:solidFill>
            <a:srgbClr val="C5C3C3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5133975" y="9944100"/>
            <a:ext cx="152400" cy="152400"/>
          </a:xfrm>
          <a:prstGeom prst="rect">
            <a:avLst/>
          </a:prstGeom>
          <a:solidFill>
            <a:srgbClr val="DCDBDB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/>
          <p:nvPr/>
        </p:nvSpPr>
        <p:spPr>
          <a:xfrm>
            <a:off x="5276850" y="9944100"/>
            <a:ext cx="152400" cy="152400"/>
          </a:xfrm>
          <a:prstGeom prst="rect">
            <a:avLst/>
          </a:prstGeom>
          <a:solidFill>
            <a:srgbClr val="F3F2F2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1580257" y="1674614"/>
            <a:ext cx="4319349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데이터와 방법론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1075581" y="4492079"/>
            <a:ext cx="4504432" cy="3120182"/>
          </a:xfrm>
          <a:prstGeom prst="rect">
            <a:avLst/>
          </a:prstGeom>
          <a:solidFill>
            <a:srgbClr val="F3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1486942" y="3648075"/>
            <a:ext cx="4049881" cy="474345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100000" dist="150290">
              <a:srgbClr val="F3F2F2"/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F3F2F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1486942" y="4903440"/>
            <a:ext cx="4049881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1587919" y="4996752"/>
            <a:ext cx="4049881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D6006C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D6006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1358176" y="4832160"/>
            <a:ext cx="4049882" cy="2335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EDBB00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EDBB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02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64개 지역·9개년·4개 지표를 공식 API에서 수집했다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0"/>
          <p:cNvSpPr/>
          <p:nvPr/>
        </p:nvSpPr>
        <p:spPr>
          <a:xfrm>
            <a:off x="1600200" y="3843338"/>
            <a:ext cx="1185416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"/>
          <p:cNvSpPr/>
          <p:nvPr/>
        </p:nvSpPr>
        <p:spPr>
          <a:xfrm>
            <a:off x="1600200" y="3239744"/>
            <a:ext cx="994916" cy="231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출처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0"/>
          <p:cNvSpPr/>
          <p:nvPr/>
        </p:nvSpPr>
        <p:spPr>
          <a:xfrm>
            <a:off x="2785616" y="3843338"/>
            <a:ext cx="13902184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"/>
          <p:cNvSpPr/>
          <p:nvPr/>
        </p:nvSpPr>
        <p:spPr>
          <a:xfrm>
            <a:off x="3052316" y="3239744"/>
            <a:ext cx="14052550" cy="23102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 e-Stat(총무성 통계국 공식 API) · 한국 KOSIS Open API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1600200" y="4871889"/>
            <a:ext cx="1185416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"/>
          <p:cNvSpPr/>
          <p:nvPr/>
        </p:nvSpPr>
        <p:spPr>
          <a:xfrm>
            <a:off x="1600200" y="4263533"/>
            <a:ext cx="994916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기간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2785616" y="4871889"/>
            <a:ext cx="13902184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0"/>
          <p:cNvSpPr/>
          <p:nvPr/>
        </p:nvSpPr>
        <p:spPr>
          <a:xfrm>
            <a:off x="3052316" y="4263533"/>
            <a:ext cx="14052550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2015~2023년 (9개년)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1600200" y="5900440"/>
            <a:ext cx="1185416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1600200" y="5292084"/>
            <a:ext cx="994916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대상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2785616" y="5900440"/>
            <a:ext cx="13902184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"/>
          <p:cNvSpPr/>
          <p:nvPr/>
        </p:nvSpPr>
        <p:spPr>
          <a:xfrm>
            <a:off x="3052316" y="5292084"/>
            <a:ext cx="14052550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한국 17개 시·도 + 일본 47개 도도부현 = 64개 지역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1600200" y="6928991"/>
            <a:ext cx="1185416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"/>
          <p:cNvSpPr/>
          <p:nvPr/>
        </p:nvSpPr>
        <p:spPr>
          <a:xfrm>
            <a:off x="1600200" y="6320635"/>
            <a:ext cx="994916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지표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2785616" y="6928991"/>
            <a:ext cx="13902184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3052316" y="6320635"/>
            <a:ext cx="14052550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고령화율 · 인구증감률 · 인구 1만명당 병상수 · 인구 1만명당 장기요양기관수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1600200" y="7957542"/>
            <a:ext cx="1185416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1600200" y="7349186"/>
            <a:ext cx="994916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적재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2785616" y="7957542"/>
            <a:ext cx="13902184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3052316" y="7349186"/>
            <a:ext cx="14052550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SQLite 스노우플레이크 스키마 · Fact_RegionStats 576행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7724" y="9771906"/>
            <a:ext cx="130076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 인프라 원자료가 2023년까지여서 기간을 절단했다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1600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결측 회피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1600200" y="3761929"/>
            <a:ext cx="7299198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 의료·복지 원자료(병상수·장기요양기관수)는 2023년까지만 공개된다. 이보다 늦은 연도를 포함하면 일본 인프라 지표에 결측치가 생긴다.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1600200" y="5562005"/>
            <a:ext cx="7795260" cy="2294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인구 지표 자체는 양국 모두 2024년까지 확보되어 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9601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스키마에 남긴 기록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9601200" y="3761929"/>
            <a:ext cx="729919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커버리지 차이를 숨기지 않기 위해 팩트 테이블을 두 개의 뷰로 분리했다.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9601200" y="5047655"/>
            <a:ext cx="7299198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006786"/>
              </a:buClr>
              <a:buSzPts val="1875"/>
              <a:buFont typeface="Courier New"/>
              <a:buNone/>
            </a:pPr>
            <a:r>
              <a:rPr b="0" i="0" lang="en-US" sz="1875" u="none" cap="none" strike="noStrike">
                <a:solidFill>
                  <a:srgbClr val="006786"/>
                </a:solidFill>
                <a:latin typeface="Courier New"/>
                <a:ea typeface="Courier New"/>
                <a:cs typeface="Courier New"/>
                <a:sym typeface="Courier New"/>
              </a:rPr>
              <a:t>Fact_Population </a:t>
            </a: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은 항상 완전하고, </a:t>
            </a:r>
            <a:r>
              <a:rPr b="0" i="0" lang="en-US" sz="1875" u="none" cap="none" strike="noStrike">
                <a:solidFill>
                  <a:srgbClr val="006786"/>
                </a:solidFill>
                <a:latin typeface="Courier New"/>
                <a:ea typeface="Courier New"/>
                <a:cs typeface="Courier New"/>
                <a:sym typeface="Courier New"/>
              </a:rPr>
              <a:t>Fact_Infra </a:t>
            </a: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는 결측 구간을 제외한다. 물리적으로는 하나의 원본 테이블 위에 두 뷰가 얹혀 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57724" y="9771906"/>
            <a:ext cx="130076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순위와 격차지수는 국가 내부에서 정의한다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2"/>
          <p:cNvSpPr/>
          <p:nvPr/>
        </p:nvSpPr>
        <p:spPr>
          <a:xfrm>
            <a:off x="1600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 내 순위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2"/>
          <p:cNvSpPr/>
          <p:nvPr/>
        </p:nvSpPr>
        <p:spPr>
          <a:xfrm>
            <a:off x="1600200" y="3761929"/>
            <a:ext cx="7299198" cy="76080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8824"/>
              </a:lnSpc>
              <a:spcBef>
                <a:spcPts val="0"/>
              </a:spcBef>
              <a:spcAft>
                <a:spcPts val="0"/>
              </a:spcAft>
              <a:buClr>
                <a:srgbClr val="006786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6786"/>
                </a:solidFill>
                <a:latin typeface="Courier New"/>
                <a:ea typeface="Courier New"/>
                <a:cs typeface="Courier New"/>
                <a:sym typeface="Courier New"/>
              </a:rPr>
              <a:t>RANK() OVER (PARTITION BY country ORDER BY ...)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2"/>
          <p:cNvSpPr/>
          <p:nvPr/>
        </p:nvSpPr>
        <p:spPr>
          <a:xfrm>
            <a:off x="1600200" y="5064621"/>
            <a:ext cx="729919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전체 64개 지역이 아니라, 같은 국가에 속한 지역들 사이에서만 순위를 매긴다.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2"/>
          <p:cNvSpPr/>
          <p:nvPr/>
        </p:nvSpPr>
        <p:spPr>
          <a:xfrm>
            <a:off x="9601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인프라 격차지수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9601200" y="3761929"/>
            <a:ext cx="7795260" cy="2464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8824"/>
              </a:lnSpc>
              <a:spcBef>
                <a:spcPts val="0"/>
              </a:spcBef>
              <a:spcAft>
                <a:spcPts val="0"/>
              </a:spcAft>
              <a:buClr>
                <a:srgbClr val="006786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6786"/>
                </a:solidFill>
                <a:latin typeface="Courier New"/>
                <a:ea typeface="Courier New"/>
                <a:cs typeface="Courier New"/>
                <a:sym typeface="Courier New"/>
              </a:rPr>
              <a:t>(국가 내 고령화율 순위) − (국가 내 인프라밀도 순위)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9601200" y="4550271"/>
            <a:ext cx="729919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값이 클수록 고령화는 심한데 인프라는 상대적으로 부족한 지역이라는 뜻이다.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세 가지 한계를 결과보다 먼저 밝힌다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1600200" y="3247579"/>
            <a:ext cx="4861560" cy="247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한계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1600200" y="3542407"/>
            <a:ext cx="1453902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기간 절단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1600200" y="4179391"/>
            <a:ext cx="455218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 인프라 원자료가 2023년까지만 존재해 전체 분석 기간을 절단했다.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6934200" y="3247579"/>
            <a:ext cx="4861560" cy="247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한계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6934200" y="3542407"/>
            <a:ext cx="2106216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인과관계 아님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6934200" y="4179391"/>
            <a:ext cx="4552188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상관계수는 인과를 뜻하지 않는다. 4.3절도 “정의가 통계량을 어떻게 바꾸는가”로 한정해 읽어야 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12268200" y="3247579"/>
            <a:ext cx="4861560" cy="24720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455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한계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12268200" y="3542407"/>
            <a:ext cx="1780133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일반화 범위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12268200" y="4179391"/>
            <a:ext cx="4552188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표본은 64개 “지역”이지 64개 “국가”가 아니다. 국가 전체에 대한 진술로 확대할 수 없다.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/>
          <p:nvPr/>
        </p:nvSpPr>
        <p:spPr>
          <a:xfrm>
            <a:off x="6524319" y="-10287000"/>
            <a:ext cx="18136210" cy="20574000"/>
          </a:xfrm>
          <a:prstGeom prst="rect">
            <a:avLst/>
          </a:prstGeom>
          <a:gradFill>
            <a:gsLst>
              <a:gs pos="0">
                <a:srgbClr val="EDBB00"/>
              </a:gs>
              <a:gs pos="50000">
                <a:srgbClr val="EDBB00"/>
              </a:gs>
              <a:gs pos="100000">
                <a:srgbClr val="EDBB0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4"/>
          <p:cNvSpPr/>
          <p:nvPr/>
        </p:nvSpPr>
        <p:spPr>
          <a:xfrm rot="900000">
            <a:off x="6574065" y="-10287000"/>
            <a:ext cx="18135603" cy="20574000"/>
          </a:xfrm>
          <a:prstGeom prst="rect">
            <a:avLst/>
          </a:prstGeom>
          <a:gradFill>
            <a:gsLst>
              <a:gs pos="0">
                <a:srgbClr val="0088B0"/>
              </a:gs>
              <a:gs pos="50000">
                <a:srgbClr val="0088B0"/>
              </a:gs>
              <a:gs pos="100000">
                <a:srgbClr val="0088B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4"/>
          <p:cNvSpPr/>
          <p:nvPr/>
        </p:nvSpPr>
        <p:spPr>
          <a:xfrm rot="4500000">
            <a:off x="6535459" y="-10287000"/>
            <a:ext cx="18135603" cy="20574000"/>
          </a:xfrm>
          <a:prstGeom prst="rect">
            <a:avLst/>
          </a:prstGeom>
          <a:gradFill>
            <a:gsLst>
              <a:gs pos="0">
                <a:srgbClr val="D6006C"/>
              </a:gs>
              <a:gs pos="50000">
                <a:srgbClr val="D6006C"/>
              </a:gs>
              <a:gs pos="100000">
                <a:srgbClr val="D6006C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4"/>
          <p:cNvSpPr/>
          <p:nvPr/>
        </p:nvSpPr>
        <p:spPr>
          <a:xfrm>
            <a:off x="4133850" y="190500"/>
            <a:ext cx="152400" cy="152400"/>
          </a:xfrm>
          <a:prstGeom prst="rect">
            <a:avLst/>
          </a:prstGeom>
          <a:solidFill>
            <a:srgbClr val="0088B0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4276725" y="190500"/>
            <a:ext cx="152400" cy="152400"/>
          </a:xfrm>
          <a:prstGeom prst="rect">
            <a:avLst/>
          </a:prstGeom>
          <a:solidFill>
            <a:srgbClr val="D6006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4419600" y="190500"/>
            <a:ext cx="152400" cy="152400"/>
          </a:xfrm>
          <a:prstGeom prst="rect">
            <a:avLst/>
          </a:prstGeom>
          <a:solidFill>
            <a:srgbClr val="EDBB00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4"/>
          <p:cNvSpPr/>
          <p:nvPr/>
        </p:nvSpPr>
        <p:spPr>
          <a:xfrm>
            <a:off x="4562475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4"/>
          <p:cNvSpPr/>
          <p:nvPr/>
        </p:nvSpPr>
        <p:spPr>
          <a:xfrm>
            <a:off x="4705350" y="190500"/>
            <a:ext cx="152400" cy="152400"/>
          </a:xfrm>
          <a:prstGeom prst="rect">
            <a:avLst/>
          </a:prstGeom>
          <a:gradFill>
            <a:gsLst>
              <a:gs pos="0">
                <a:srgbClr val="D6006C"/>
              </a:gs>
              <a:gs pos="100000">
                <a:srgbClr val="D6006C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4848225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4991100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"/>
          <p:cNvSpPr/>
          <p:nvPr/>
        </p:nvSpPr>
        <p:spPr>
          <a:xfrm>
            <a:off x="5133975" y="190500"/>
            <a:ext cx="152400" cy="152400"/>
          </a:xfrm>
          <a:prstGeom prst="rect">
            <a:avLst/>
          </a:prstGeom>
          <a:solidFill>
            <a:srgbClr val="201E1D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4"/>
          <p:cNvSpPr/>
          <p:nvPr/>
        </p:nvSpPr>
        <p:spPr>
          <a:xfrm>
            <a:off x="3990975" y="9944100"/>
            <a:ext cx="152400" cy="152400"/>
          </a:xfrm>
          <a:prstGeom prst="rect">
            <a:avLst/>
          </a:prstGeom>
          <a:solidFill>
            <a:srgbClr val="201E1D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4133850" y="9944100"/>
            <a:ext cx="152400" cy="152400"/>
          </a:xfrm>
          <a:prstGeom prst="rect">
            <a:avLst/>
          </a:prstGeom>
          <a:solidFill>
            <a:srgbClr val="373534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4276725" y="9944100"/>
            <a:ext cx="152400" cy="152400"/>
          </a:xfrm>
          <a:prstGeom prst="rect">
            <a:avLst/>
          </a:prstGeom>
          <a:solidFill>
            <a:srgbClr val="4E4D4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4"/>
          <p:cNvSpPr/>
          <p:nvPr/>
        </p:nvSpPr>
        <p:spPr>
          <a:xfrm>
            <a:off x="4419600" y="9944100"/>
            <a:ext cx="152400" cy="152400"/>
          </a:xfrm>
          <a:prstGeom prst="rect">
            <a:avLst/>
          </a:prstGeom>
          <a:solidFill>
            <a:srgbClr val="666463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"/>
          <p:cNvSpPr/>
          <p:nvPr/>
        </p:nvSpPr>
        <p:spPr>
          <a:xfrm>
            <a:off x="4562475" y="9944100"/>
            <a:ext cx="152400" cy="152400"/>
          </a:xfrm>
          <a:prstGeom prst="rect">
            <a:avLst/>
          </a:prstGeom>
          <a:solidFill>
            <a:srgbClr val="7D7B7B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"/>
          <p:cNvSpPr/>
          <p:nvPr/>
        </p:nvSpPr>
        <p:spPr>
          <a:xfrm>
            <a:off x="4705350" y="9944100"/>
            <a:ext cx="152400" cy="152400"/>
          </a:xfrm>
          <a:prstGeom prst="rect">
            <a:avLst/>
          </a:prstGeom>
          <a:solidFill>
            <a:srgbClr val="969594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4"/>
          <p:cNvSpPr/>
          <p:nvPr/>
        </p:nvSpPr>
        <p:spPr>
          <a:xfrm>
            <a:off x="4848225" y="9944100"/>
            <a:ext cx="152400" cy="152400"/>
          </a:xfrm>
          <a:prstGeom prst="rect">
            <a:avLst/>
          </a:prstGeom>
          <a:solidFill>
            <a:srgbClr val="ADACA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4"/>
          <p:cNvSpPr/>
          <p:nvPr/>
        </p:nvSpPr>
        <p:spPr>
          <a:xfrm>
            <a:off x="4991100" y="9944100"/>
            <a:ext cx="152400" cy="152400"/>
          </a:xfrm>
          <a:prstGeom prst="rect">
            <a:avLst/>
          </a:prstGeom>
          <a:solidFill>
            <a:srgbClr val="C5C3C3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"/>
          <p:cNvSpPr/>
          <p:nvPr/>
        </p:nvSpPr>
        <p:spPr>
          <a:xfrm>
            <a:off x="5133975" y="9944100"/>
            <a:ext cx="152400" cy="152400"/>
          </a:xfrm>
          <a:prstGeom prst="rect">
            <a:avLst/>
          </a:prstGeom>
          <a:solidFill>
            <a:srgbClr val="DCDBDB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"/>
          <p:cNvSpPr/>
          <p:nvPr/>
        </p:nvSpPr>
        <p:spPr>
          <a:xfrm>
            <a:off x="5276850" y="9944100"/>
            <a:ext cx="152400" cy="152400"/>
          </a:xfrm>
          <a:prstGeom prst="rect">
            <a:avLst/>
          </a:prstGeom>
          <a:solidFill>
            <a:srgbClr val="F3F2F2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4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"/>
          <p:cNvSpPr/>
          <p:nvPr/>
        </p:nvSpPr>
        <p:spPr>
          <a:xfrm>
            <a:off x="1580257" y="1674614"/>
            <a:ext cx="1163241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결과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1075581" y="4492079"/>
            <a:ext cx="4522887" cy="3120182"/>
          </a:xfrm>
          <a:prstGeom prst="rect">
            <a:avLst/>
          </a:prstGeom>
          <a:solidFill>
            <a:srgbClr val="F3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4"/>
          <p:cNvSpPr/>
          <p:nvPr/>
        </p:nvSpPr>
        <p:spPr>
          <a:xfrm>
            <a:off x="1486942" y="3648075"/>
            <a:ext cx="4070181" cy="474345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100000" dist="150290">
              <a:srgbClr val="F3F2F2"/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F3F2F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1486942" y="4903440"/>
            <a:ext cx="4070181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1594153" y="4992637"/>
            <a:ext cx="4070181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D6006C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D6006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4"/>
          <p:cNvSpPr/>
          <p:nvPr/>
        </p:nvSpPr>
        <p:spPr>
          <a:xfrm>
            <a:off x="1364410" y="4828045"/>
            <a:ext cx="4070181" cy="2335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EDBB00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EDBB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03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고령화율은 일본이 높지만 병상수는 두 나라가 거의 같다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11925300" y="2314724"/>
            <a:ext cx="4905375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1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그림 1. </a:t>
            </a: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평균 고령화율은 일본 31.6%, 한국 19.6%. 인구 1만명당 병상수는 일본 150, 한국 149로 거의 같다.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11925300" y="4114800"/>
            <a:ext cx="4905375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반면 인구 1만명당 요양기관수는 한국 4.7, 일본 0.8로 약 6배 차이가 난다 — 정의 범위의 차이이며 4장에서 다룬다.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3" name="Google Shape;253;p15"/>
          <p:cNvPicPr preferRelativeResize="0"/>
          <p:nvPr/>
        </p:nvPicPr>
        <p:blipFill rotWithShape="1">
          <a:blip r:embed="rId3">
            <a:alphaModFix/>
          </a:blip>
          <a:srcRect b="0" l="0" r="-675" t="0"/>
          <a:stretch/>
        </p:blipFill>
        <p:spPr>
          <a:xfrm>
            <a:off x="1600200" y="2314724"/>
            <a:ext cx="9563100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54" name="Google Shape;25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구성비로 보면 한국은 돌봄, 일본은 의료에 무게가 실린다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16"/>
          <p:cNvPicPr preferRelativeResize="0"/>
          <p:nvPr/>
        </p:nvPicPr>
        <p:blipFill rotWithShape="1">
          <a:blip r:embed="rId3">
            <a:alphaModFix/>
          </a:blip>
          <a:srcRect b="0" l="0" r="-62963" t="0"/>
          <a:stretch/>
        </p:blipFill>
        <p:spPr>
          <a:xfrm>
            <a:off x="1600200" y="2314724"/>
            <a:ext cx="15087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6"/>
          <p:cNvSpPr/>
          <p:nvPr/>
        </p:nvSpPr>
        <p:spPr>
          <a:xfrm>
            <a:off x="1600200" y="8314581"/>
            <a:ext cx="12611413" cy="7247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946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2025"/>
              <a:buFont typeface="Source Serif 4"/>
              <a:buNone/>
            </a:pPr>
            <a:r>
              <a:rPr b="1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그림 2. </a:t>
            </a:r>
            <a:r>
              <a:rPr b="0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국가별 의료·돌봄 인프라 구성비. </a:t>
            </a:r>
            <a:r>
              <a:rPr lang="en-US" sz="2925">
                <a:solidFill>
                  <a:srgbClr val="FF00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국가명 빠져있어서 국가명 추가해서 이거 넣기</a:t>
            </a:r>
            <a:endParaRPr b="0" i="0" sz="2925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3" name="Google Shape;26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한국의 고령화 속도는 일본의 약 1.8배다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11925300" y="2314724"/>
            <a:ext cx="4905375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1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그림 3. </a:t>
            </a: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2015~2023년 한국 평균 고령화율은 13.8%에서 19.6%로, 일본은 28.3%에서 31.6%로 올랐다.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7"/>
          <p:cNvSpPr/>
          <p:nvPr/>
        </p:nvSpPr>
        <p:spPr>
          <a:xfrm>
            <a:off x="11925300" y="4114800"/>
            <a:ext cx="4905375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연평균으로는 한국 +0.72%p, 일본 +0.41%p — 한국의 증가 속도가 약 1.8배다.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2" name="Google Shape;272;p17"/>
          <p:cNvPicPr preferRelativeResize="0"/>
          <p:nvPr/>
        </p:nvPicPr>
        <p:blipFill rotWithShape="1">
          <a:blip r:embed="rId3">
            <a:alphaModFix/>
          </a:blip>
          <a:srcRect b="-7395" l="0" r="0" t="-7395"/>
          <a:stretch/>
        </p:blipFill>
        <p:spPr>
          <a:xfrm>
            <a:off x="1600200" y="2314724"/>
            <a:ext cx="9563100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3" name="Google Shape;27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인프라밀도는 고령화율보다 완만하게 변한다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0" name="Google Shape;280;p18"/>
          <p:cNvPicPr preferRelativeResize="0"/>
          <p:nvPr/>
        </p:nvPicPr>
        <p:blipFill rotWithShape="1">
          <a:blip r:embed="rId3">
            <a:alphaModFix/>
          </a:blip>
          <a:srcRect b="0" l="0" r="-41148" t="0"/>
          <a:stretch/>
        </p:blipFill>
        <p:spPr>
          <a:xfrm>
            <a:off x="1600200" y="2314724"/>
            <a:ext cx="15087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8"/>
          <p:cNvSpPr/>
          <p:nvPr/>
        </p:nvSpPr>
        <p:spPr>
          <a:xfrm>
            <a:off x="1600200" y="8314581"/>
            <a:ext cx="13468499" cy="2104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946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2025"/>
              <a:buFont typeface="Source Serif 4"/>
              <a:buNone/>
            </a:pPr>
            <a:r>
              <a:rPr b="1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그림 4. </a:t>
            </a:r>
            <a:r>
              <a:rPr b="0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인구 1만명당 병상수·요양기관수 추이, 2015~2023년. 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2" name="Google Shape;28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9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지역 간 상대 순위는 9년 동안 대체로 유지된다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9"/>
          <p:cNvSpPr/>
          <p:nvPr/>
        </p:nvSpPr>
        <p:spPr>
          <a:xfrm>
            <a:off x="11925300" y="2314724"/>
            <a:ext cx="4905375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1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그림 5. </a:t>
            </a: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순위의 흐름을 보는 그림이다. 상위권은 9년 동안 거의 고정되어 있고, 순위 교차는 중위권에서 일어난다.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9"/>
          <p:cNvSpPr/>
          <p:nvPr/>
        </p:nvSpPr>
        <p:spPr>
          <a:xfrm>
            <a:off x="11925300" y="4114800"/>
            <a:ext cx="4905375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개별 지역을 읽기 위한 그림이 아니라, 지역 간 상대 위치가 얼마나 안정적인지 확인하기 위한 그림이다.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1" name="Google Shape;291;p19"/>
          <p:cNvPicPr preferRelativeResize="0"/>
          <p:nvPr/>
        </p:nvPicPr>
        <p:blipFill rotWithShape="1">
          <a:blip r:embed="rId3">
            <a:alphaModFix/>
          </a:blip>
          <a:srcRect b="0" l="0" r="-22320" t="0"/>
          <a:stretch/>
        </p:blipFill>
        <p:spPr>
          <a:xfrm>
            <a:off x="1600200" y="2314724"/>
            <a:ext cx="9563100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92" name="Google Shape;2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 평균 뒤에 큰 지역 편차가 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9" name="Google Shape;299;p20"/>
          <p:cNvPicPr preferRelativeResize="0"/>
          <p:nvPr/>
        </p:nvPicPr>
        <p:blipFill rotWithShape="1">
          <a:blip r:embed="rId3">
            <a:alphaModFix/>
          </a:blip>
          <a:srcRect b="0" l="0" r="-53021" t="0"/>
          <a:stretch/>
        </p:blipFill>
        <p:spPr>
          <a:xfrm>
            <a:off x="1600200" y="2314724"/>
            <a:ext cx="150876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0"/>
          <p:cNvSpPr/>
          <p:nvPr/>
        </p:nvSpPr>
        <p:spPr>
          <a:xfrm>
            <a:off x="1600200" y="8314581"/>
            <a:ext cx="134685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946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2025"/>
              <a:buFont typeface="Source Serif 4"/>
              <a:buNone/>
            </a:pPr>
            <a:r>
              <a:rPr b="1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그림 6. </a:t>
            </a:r>
            <a:r>
              <a:rPr b="0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국가별로 구분한 64개 지역의 고령화율 순위. 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1" name="Google Shape;30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증가폭 상위 5개 지역은 모두 국가 평균을 넘는다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/>
          <p:nvPr/>
        </p:nvSpPr>
        <p:spPr>
          <a:xfrm>
            <a:off x="11782425" y="2803824"/>
            <a:ext cx="4905300" cy="1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1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그림 7. </a:t>
            </a: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2015→2023년 증가폭이 가장 큰 한국 지역은 부산 +8.0%p, 강원 +7.1%p, 울산 +7.1%p, 경북 +7.0%p, 대구 +6.9%p 순이다.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9" name="Google Shape;309;p21"/>
          <p:cNvPicPr preferRelativeResize="0"/>
          <p:nvPr/>
        </p:nvPicPr>
        <p:blipFill rotWithShape="1">
          <a:blip r:embed="rId3">
            <a:alphaModFix/>
          </a:blip>
          <a:srcRect b="-8346" l="0" r="0" t="-8346"/>
          <a:stretch/>
        </p:blipFill>
        <p:spPr>
          <a:xfrm>
            <a:off x="1600200" y="2314724"/>
            <a:ext cx="9563100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10" name="Google Shape;3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2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두 나라 지역은 서로 다른 구간에 뭉쳐 분포한다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7" name="Google Shape;317;p22"/>
          <p:cNvPicPr preferRelativeResize="0"/>
          <p:nvPr/>
        </p:nvPicPr>
        <p:blipFill rotWithShape="1">
          <a:blip r:embed="rId3">
            <a:alphaModFix/>
          </a:blip>
          <a:srcRect b="0" l="0" r="-10756" t="0"/>
          <a:stretch/>
        </p:blipFill>
        <p:spPr>
          <a:xfrm>
            <a:off x="1600200" y="2314724"/>
            <a:ext cx="15087600" cy="462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2"/>
          <p:cNvSpPr/>
          <p:nvPr/>
        </p:nvSpPr>
        <p:spPr>
          <a:xfrm>
            <a:off x="1600200" y="7800231"/>
            <a:ext cx="12611413" cy="7247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946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2025"/>
              <a:buFont typeface="Source Serif 4"/>
              <a:buNone/>
            </a:pPr>
            <a:r>
              <a:rPr b="1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그림 8. </a:t>
            </a:r>
            <a:r>
              <a:rPr b="0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고령화율×인프라밀도, 2015·2018·2023년</a:t>
            </a:r>
            <a:r>
              <a:rPr lang="en-US" sz="2025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, </a:t>
            </a:r>
            <a:r>
              <a:rPr b="0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집단 내부에서는 우상향하지만, 두 집단을 합치면 기울기의 방향이 달라진다.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9" name="Google Shape;3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 내 순위로는 강원과 야마가타가 1위로 나타난다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3"/>
          <p:cNvSpPr/>
          <p:nvPr/>
        </p:nvSpPr>
        <p:spPr>
          <a:xfrm>
            <a:off x="11925300" y="2314724"/>
            <a:ext cx="4905375" cy="28012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1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그림 9. </a:t>
            </a: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 내 순위로 계산한 격차지수 기준, 한국에서는 강원특별자치도가 1위다. 고령화율 24.0%로 한국 내 4위이면서 인구 1만명당 병상수는 108.2 — 전국평균 151.8보다 29% 낮다.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3"/>
          <p:cNvSpPr/>
          <p:nvPr/>
        </p:nvSpPr>
        <p:spPr>
          <a:xfrm>
            <a:off x="11925300" y="5657850"/>
            <a:ext cx="4905375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일본에서는 야마가타현이 자국 내 최우선 지역으로 나타났다.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23"/>
          <p:cNvPicPr preferRelativeResize="0"/>
          <p:nvPr/>
        </p:nvPicPr>
        <p:blipFill rotWithShape="1">
          <a:blip r:embed="rId3">
            <a:alphaModFix/>
          </a:blip>
          <a:srcRect b="0" l="0" r="-31595" t="0"/>
          <a:stretch/>
        </p:blipFill>
        <p:spPr>
          <a:xfrm>
            <a:off x="1600200" y="2314724"/>
            <a:ext cx="9563100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29" name="Google Shape;3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4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격차지수는 국가 안에서만 비교할 수 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11925300" y="2314724"/>
            <a:ext cx="4905375" cy="1772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1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그림 10. </a:t>
            </a: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한국 TOP5와 일본 TOP5를 함께 놓았다. 각 나라 안에서 고령화 순위가 인프라 순위보다 앞서는 정도를 보여준다.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11925300" y="4629150"/>
            <a:ext cx="4905375" cy="1772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두 나라의 지수를 절대값으로 직접 비교하는 것은 준거집단 크기가 달라 성립하지 않는다 — 4장에서 다시 다룬다.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24"/>
          <p:cNvPicPr preferRelativeResize="0"/>
          <p:nvPr/>
        </p:nvPicPr>
        <p:blipFill rotWithShape="1">
          <a:blip r:embed="rId3">
            <a:alphaModFix/>
          </a:blip>
          <a:srcRect b="-173" l="0" r="0" t="-173"/>
          <a:stretch/>
        </p:blipFill>
        <p:spPr>
          <a:xfrm>
            <a:off x="1600200" y="2314724"/>
            <a:ext cx="9563100" cy="617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9" name="Google Shape;3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5"/>
          <p:cNvSpPr/>
          <p:nvPr/>
        </p:nvSpPr>
        <p:spPr>
          <a:xfrm>
            <a:off x="6524319" y="-10287000"/>
            <a:ext cx="18136210" cy="20574000"/>
          </a:xfrm>
          <a:prstGeom prst="rect">
            <a:avLst/>
          </a:prstGeom>
          <a:gradFill>
            <a:gsLst>
              <a:gs pos="0">
                <a:srgbClr val="EDBB00"/>
              </a:gs>
              <a:gs pos="50000">
                <a:srgbClr val="EDBB00"/>
              </a:gs>
              <a:gs pos="100000">
                <a:srgbClr val="EDBB0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5"/>
          <p:cNvSpPr/>
          <p:nvPr/>
        </p:nvSpPr>
        <p:spPr>
          <a:xfrm rot="900000">
            <a:off x="6574065" y="-10287000"/>
            <a:ext cx="18135603" cy="20574000"/>
          </a:xfrm>
          <a:prstGeom prst="rect">
            <a:avLst/>
          </a:prstGeom>
          <a:gradFill>
            <a:gsLst>
              <a:gs pos="0">
                <a:srgbClr val="0088B0"/>
              </a:gs>
              <a:gs pos="50000">
                <a:srgbClr val="0088B0"/>
              </a:gs>
              <a:gs pos="100000">
                <a:srgbClr val="0088B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5"/>
          <p:cNvSpPr/>
          <p:nvPr/>
        </p:nvSpPr>
        <p:spPr>
          <a:xfrm rot="4500000">
            <a:off x="6535459" y="-10287000"/>
            <a:ext cx="18135603" cy="20574000"/>
          </a:xfrm>
          <a:prstGeom prst="rect">
            <a:avLst/>
          </a:prstGeom>
          <a:gradFill>
            <a:gsLst>
              <a:gs pos="0">
                <a:srgbClr val="D6006C"/>
              </a:gs>
              <a:gs pos="50000">
                <a:srgbClr val="D6006C"/>
              </a:gs>
              <a:gs pos="100000">
                <a:srgbClr val="D6006C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5"/>
          <p:cNvSpPr/>
          <p:nvPr/>
        </p:nvSpPr>
        <p:spPr>
          <a:xfrm>
            <a:off x="4133850" y="190500"/>
            <a:ext cx="152400" cy="152400"/>
          </a:xfrm>
          <a:prstGeom prst="rect">
            <a:avLst/>
          </a:prstGeom>
          <a:solidFill>
            <a:srgbClr val="0088B0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5"/>
          <p:cNvSpPr/>
          <p:nvPr/>
        </p:nvSpPr>
        <p:spPr>
          <a:xfrm>
            <a:off x="4276725" y="190500"/>
            <a:ext cx="152400" cy="152400"/>
          </a:xfrm>
          <a:prstGeom prst="rect">
            <a:avLst/>
          </a:prstGeom>
          <a:solidFill>
            <a:srgbClr val="D6006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5"/>
          <p:cNvSpPr/>
          <p:nvPr/>
        </p:nvSpPr>
        <p:spPr>
          <a:xfrm>
            <a:off x="4419600" y="190500"/>
            <a:ext cx="152400" cy="152400"/>
          </a:xfrm>
          <a:prstGeom prst="rect">
            <a:avLst/>
          </a:prstGeom>
          <a:solidFill>
            <a:srgbClr val="EDBB00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25"/>
          <p:cNvSpPr/>
          <p:nvPr/>
        </p:nvSpPr>
        <p:spPr>
          <a:xfrm>
            <a:off x="4562475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5"/>
          <p:cNvSpPr/>
          <p:nvPr/>
        </p:nvSpPr>
        <p:spPr>
          <a:xfrm>
            <a:off x="4705350" y="190500"/>
            <a:ext cx="152400" cy="152400"/>
          </a:xfrm>
          <a:prstGeom prst="rect">
            <a:avLst/>
          </a:prstGeom>
          <a:gradFill>
            <a:gsLst>
              <a:gs pos="0">
                <a:srgbClr val="D6006C"/>
              </a:gs>
              <a:gs pos="100000">
                <a:srgbClr val="D6006C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5"/>
          <p:cNvSpPr/>
          <p:nvPr/>
        </p:nvSpPr>
        <p:spPr>
          <a:xfrm>
            <a:off x="4848225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5"/>
          <p:cNvSpPr/>
          <p:nvPr/>
        </p:nvSpPr>
        <p:spPr>
          <a:xfrm>
            <a:off x="4991100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5"/>
          <p:cNvSpPr/>
          <p:nvPr/>
        </p:nvSpPr>
        <p:spPr>
          <a:xfrm>
            <a:off x="5133975" y="190500"/>
            <a:ext cx="152400" cy="152400"/>
          </a:xfrm>
          <a:prstGeom prst="rect">
            <a:avLst/>
          </a:prstGeom>
          <a:solidFill>
            <a:srgbClr val="201E1D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5"/>
          <p:cNvSpPr/>
          <p:nvPr/>
        </p:nvSpPr>
        <p:spPr>
          <a:xfrm>
            <a:off x="3990975" y="9944100"/>
            <a:ext cx="152400" cy="152400"/>
          </a:xfrm>
          <a:prstGeom prst="rect">
            <a:avLst/>
          </a:prstGeom>
          <a:solidFill>
            <a:srgbClr val="201E1D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5"/>
          <p:cNvSpPr/>
          <p:nvPr/>
        </p:nvSpPr>
        <p:spPr>
          <a:xfrm>
            <a:off x="4133850" y="9944100"/>
            <a:ext cx="152400" cy="152400"/>
          </a:xfrm>
          <a:prstGeom prst="rect">
            <a:avLst/>
          </a:prstGeom>
          <a:solidFill>
            <a:srgbClr val="373534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5"/>
          <p:cNvSpPr/>
          <p:nvPr/>
        </p:nvSpPr>
        <p:spPr>
          <a:xfrm>
            <a:off x="4276725" y="9944100"/>
            <a:ext cx="152400" cy="152400"/>
          </a:xfrm>
          <a:prstGeom prst="rect">
            <a:avLst/>
          </a:prstGeom>
          <a:solidFill>
            <a:srgbClr val="4E4D4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5"/>
          <p:cNvSpPr/>
          <p:nvPr/>
        </p:nvSpPr>
        <p:spPr>
          <a:xfrm>
            <a:off x="4419600" y="9944100"/>
            <a:ext cx="152400" cy="152400"/>
          </a:xfrm>
          <a:prstGeom prst="rect">
            <a:avLst/>
          </a:prstGeom>
          <a:solidFill>
            <a:srgbClr val="666463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4562475" y="9944100"/>
            <a:ext cx="152400" cy="152400"/>
          </a:xfrm>
          <a:prstGeom prst="rect">
            <a:avLst/>
          </a:prstGeom>
          <a:solidFill>
            <a:srgbClr val="7D7B7B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5"/>
          <p:cNvSpPr/>
          <p:nvPr/>
        </p:nvSpPr>
        <p:spPr>
          <a:xfrm>
            <a:off x="4705350" y="9944100"/>
            <a:ext cx="152400" cy="152400"/>
          </a:xfrm>
          <a:prstGeom prst="rect">
            <a:avLst/>
          </a:prstGeom>
          <a:solidFill>
            <a:srgbClr val="969594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4848225" y="9944100"/>
            <a:ext cx="152400" cy="152400"/>
          </a:xfrm>
          <a:prstGeom prst="rect">
            <a:avLst/>
          </a:prstGeom>
          <a:solidFill>
            <a:srgbClr val="ADACA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5"/>
          <p:cNvSpPr/>
          <p:nvPr/>
        </p:nvSpPr>
        <p:spPr>
          <a:xfrm>
            <a:off x="4991100" y="9944100"/>
            <a:ext cx="152400" cy="152400"/>
          </a:xfrm>
          <a:prstGeom prst="rect">
            <a:avLst/>
          </a:prstGeom>
          <a:solidFill>
            <a:srgbClr val="C5C3C3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5"/>
          <p:cNvSpPr/>
          <p:nvPr/>
        </p:nvSpPr>
        <p:spPr>
          <a:xfrm>
            <a:off x="5133975" y="9944100"/>
            <a:ext cx="152400" cy="152400"/>
          </a:xfrm>
          <a:prstGeom prst="rect">
            <a:avLst/>
          </a:prstGeom>
          <a:solidFill>
            <a:srgbClr val="DCDBDB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5"/>
          <p:cNvSpPr/>
          <p:nvPr/>
        </p:nvSpPr>
        <p:spPr>
          <a:xfrm>
            <a:off x="5276850" y="9944100"/>
            <a:ext cx="152400" cy="152400"/>
          </a:xfrm>
          <a:prstGeom prst="rect">
            <a:avLst/>
          </a:prstGeom>
          <a:solidFill>
            <a:srgbClr val="F3F2F2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5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5"/>
          <p:cNvSpPr/>
          <p:nvPr/>
        </p:nvSpPr>
        <p:spPr>
          <a:xfrm>
            <a:off x="1580257" y="1674614"/>
            <a:ext cx="1163241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논의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1075581" y="4492079"/>
            <a:ext cx="4510980" cy="3120182"/>
          </a:xfrm>
          <a:prstGeom prst="rect">
            <a:avLst/>
          </a:prstGeom>
          <a:solidFill>
            <a:srgbClr val="F3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"/>
          <p:cNvSpPr/>
          <p:nvPr/>
        </p:nvSpPr>
        <p:spPr>
          <a:xfrm>
            <a:off x="1486942" y="3648075"/>
            <a:ext cx="4057084" cy="474345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100000" dist="150290">
              <a:srgbClr val="F3F2F2"/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F3F2F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1486942" y="4903440"/>
            <a:ext cx="4057084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1594153" y="4992637"/>
            <a:ext cx="4057084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D6006C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D6006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1364410" y="4828045"/>
            <a:ext cx="4057084" cy="23355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EDBB00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EDBB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04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6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기간을 한 해 줄이자 배율이 1.95에서 1.76으로 바뀌었다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1600200" y="3843338"/>
            <a:ext cx="4244132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6"/>
          <p:cNvSpPr/>
          <p:nvPr/>
        </p:nvSpPr>
        <p:spPr>
          <a:xfrm>
            <a:off x="1600200" y="3262080"/>
            <a:ext cx="4104756" cy="186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비교 구간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5844332" y="3843338"/>
            <a:ext cx="4433739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6"/>
          <p:cNvSpPr/>
          <p:nvPr/>
        </p:nvSpPr>
        <p:spPr>
          <a:xfrm>
            <a:off x="6111032" y="3262080"/>
            <a:ext cx="4033351" cy="186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한국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10278070" y="3843338"/>
            <a:ext cx="4433739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6"/>
          <p:cNvSpPr/>
          <p:nvPr/>
        </p:nvSpPr>
        <p:spPr>
          <a:xfrm>
            <a:off x="10544770" y="3262080"/>
            <a:ext cx="4033351" cy="186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14711809" y="3843338"/>
            <a:ext cx="1975991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6"/>
          <p:cNvSpPr/>
          <p:nvPr/>
        </p:nvSpPr>
        <p:spPr>
          <a:xfrm>
            <a:off x="14978509" y="3262080"/>
            <a:ext cx="1785491" cy="186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배율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1600200" y="4871889"/>
            <a:ext cx="4244132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6"/>
          <p:cNvSpPr/>
          <p:nvPr/>
        </p:nvSpPr>
        <p:spPr>
          <a:xfrm>
            <a:off x="1600200" y="4263533"/>
            <a:ext cx="4104756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2015~2024 (최초 분석)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5844332" y="4871889"/>
            <a:ext cx="4433739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26"/>
          <p:cNvSpPr/>
          <p:nvPr/>
        </p:nvSpPr>
        <p:spPr>
          <a:xfrm>
            <a:off x="6111032" y="4263533"/>
            <a:ext cx="4033351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+6.9%p · 연 +0.76%p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10278070" y="4871889"/>
            <a:ext cx="4433739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6"/>
          <p:cNvSpPr/>
          <p:nvPr/>
        </p:nvSpPr>
        <p:spPr>
          <a:xfrm>
            <a:off x="10544770" y="4263533"/>
            <a:ext cx="4033351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+3.5%p · 연 +0.39%p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14711809" y="4871889"/>
            <a:ext cx="1975991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6"/>
          <p:cNvSpPr/>
          <p:nvPr/>
        </p:nvSpPr>
        <p:spPr>
          <a:xfrm>
            <a:off x="14978509" y="4263533"/>
            <a:ext cx="1785491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≈ 1.95배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1600200" y="5900440"/>
            <a:ext cx="4244132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1600200" y="5292084"/>
            <a:ext cx="4104756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2015~2023 (최종)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5844332" y="5900440"/>
            <a:ext cx="4433739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6"/>
          <p:cNvSpPr/>
          <p:nvPr/>
        </p:nvSpPr>
        <p:spPr>
          <a:xfrm>
            <a:off x="6111032" y="5292084"/>
            <a:ext cx="4033351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+5.8%p · 연 +0.72%p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10278070" y="5900440"/>
            <a:ext cx="4433739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10544770" y="5292084"/>
            <a:ext cx="4033351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+3.3%p · 연 +0.41%p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14711809" y="5900440"/>
            <a:ext cx="1975991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6"/>
          <p:cNvSpPr/>
          <p:nvPr/>
        </p:nvSpPr>
        <p:spPr>
          <a:xfrm>
            <a:off x="14978509" y="5292084"/>
            <a:ext cx="1785491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D6006C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D6006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≈ 1.76배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1600200" y="7285434"/>
            <a:ext cx="13468499" cy="2104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946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같은 데이터, 같은 계산식. 마지막 관측 연도 하나를 줄인 것이 “약 2배”와 “약 1.8배”의 차이를 만들었다.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4" name="Google Shape;40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7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비율은 원본 지표보다 구간 설정에 민감하다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1360170" y="3113633"/>
            <a:ext cx="12698730" cy="4897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연평균 증가폭 자체는 한국 0.76 → 0.72%p, 일본 0.39 → 0.41%p로 0.02~0.04%p만 움직였다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그런데 두 값의 비율은 1.95 → 1.76으로 0.2포인트 가까이 이동했다 — 나눗셈이 오차를 증폭시킨다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기간에 정규화된 지표(%p/년)가 단일 시점 비교보다 견고한 비교 기준이다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“몇 배 빠르다” 같은 2차 지표를 보고할 때는 구간 설정에 더 민감하다는 점을 함께 밝혀야 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2" name="Google Shape;4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8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전역 순위는 취약지역을 전부 일본으로 만든다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8"/>
          <p:cNvSpPr/>
          <p:nvPr/>
        </p:nvSpPr>
        <p:spPr>
          <a:xfrm>
            <a:off x="1600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전역 순위 — 64개 지역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8"/>
          <p:cNvSpPr/>
          <p:nvPr/>
        </p:nvSpPr>
        <p:spPr>
          <a:xfrm>
            <a:off x="1600200" y="3761929"/>
            <a:ext cx="729919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격차지수를 64개 지역 전체에서 한 줄로 계산하면 상위 15개 지역이 전부 일본으로 채워진다.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1600200" y="5047655"/>
            <a:ext cx="729919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일본의 고령화율이 전반적으로 높아서 생기는 구조적 쏠림이며, “그 지역만” 인프라가 부족하다는 뜻이 아니다.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8"/>
          <p:cNvSpPr/>
          <p:nvPr/>
        </p:nvSpPr>
        <p:spPr>
          <a:xfrm>
            <a:off x="9601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 내 순위 — 17개 / 47개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9601200" y="3761929"/>
            <a:ext cx="7299198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같은 지수를 국가 내부에서만 계산하면 한국 강원특별자치도, 일본 야마가타현이 각각 자국 내 최우선 지역으로 드러난다.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9601200" y="5562005"/>
            <a:ext cx="7299198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RANK는 준거집단의 크기와 구성에 의존하는 통계량이다. “취약 지역”은 무엇과 비교하느냐에 따라 달라지는 상대적 개념이다.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5" name="Google Shape;42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9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준거집단 크기가 다르면 격차지수를 직접 비교할 수 없다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9"/>
          <p:cNvSpPr/>
          <p:nvPr/>
        </p:nvSpPr>
        <p:spPr>
          <a:xfrm>
            <a:off x="1360170" y="3113633"/>
            <a:ext cx="12698730" cy="4897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강원특별자치도(−9)와 야마가타현(−21)을 절대값 크기로 직접 비교해서는 안 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한국은 17개, 일본은 47개 지역을 준거집단으로 순위를 매긴다 — 지수가 취할 수 있는 범위 자체가 한국 ±16, 일본 ±46으로 다르다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“야마가타현이 강원보다 2배 이상 심각하다”는 해석은 또 다른 형태의 측정 방법 오류다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국가별 순위는 문제를 없앤 것이 아니라 비교의 층위를 한 단계 옮긴 것이며, 그 층위 안에서도 준거집단 크기를 통제해야 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3" name="Google Shape;43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0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국가별로는 양의 상관, 통합하면 음의 상관이 된다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0"/>
          <p:cNvSpPr/>
          <p:nvPr/>
        </p:nvSpPr>
        <p:spPr>
          <a:xfrm>
            <a:off x="1600200" y="3843338"/>
            <a:ext cx="3458914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0"/>
          <p:cNvSpPr/>
          <p:nvPr/>
        </p:nvSpPr>
        <p:spPr>
          <a:xfrm>
            <a:off x="1600200" y="3262080"/>
            <a:ext cx="3295982" cy="186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비교 범위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0"/>
          <p:cNvSpPr/>
          <p:nvPr/>
        </p:nvSpPr>
        <p:spPr>
          <a:xfrm>
            <a:off x="5059114" y="3843338"/>
            <a:ext cx="7959477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30"/>
          <p:cNvSpPr/>
          <p:nvPr/>
        </p:nvSpPr>
        <p:spPr>
          <a:xfrm>
            <a:off x="5325814" y="3262080"/>
            <a:ext cx="7664861" cy="186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상관계수 (고령화율 × 요양기관수)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0"/>
          <p:cNvSpPr/>
          <p:nvPr/>
        </p:nvSpPr>
        <p:spPr>
          <a:xfrm>
            <a:off x="13018591" y="3843338"/>
            <a:ext cx="3669209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0"/>
          <p:cNvSpPr/>
          <p:nvPr/>
        </p:nvSpPr>
        <p:spPr>
          <a:xfrm>
            <a:off x="13285291" y="3262080"/>
            <a:ext cx="3512585" cy="186351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부호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0"/>
          <p:cNvSpPr/>
          <p:nvPr/>
        </p:nvSpPr>
        <p:spPr>
          <a:xfrm>
            <a:off x="1600200" y="4871889"/>
            <a:ext cx="3458914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0"/>
          <p:cNvSpPr/>
          <p:nvPr/>
        </p:nvSpPr>
        <p:spPr>
          <a:xfrm>
            <a:off x="1600200" y="4263533"/>
            <a:ext cx="3295982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한국 내부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/>
          <p:nvPr/>
        </p:nvSpPr>
        <p:spPr>
          <a:xfrm>
            <a:off x="5059114" y="4871889"/>
            <a:ext cx="7959477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0"/>
          <p:cNvSpPr/>
          <p:nvPr/>
        </p:nvSpPr>
        <p:spPr>
          <a:xfrm>
            <a:off x="5325814" y="4263533"/>
            <a:ext cx="7664861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+0.742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0"/>
          <p:cNvSpPr/>
          <p:nvPr/>
        </p:nvSpPr>
        <p:spPr>
          <a:xfrm>
            <a:off x="13018591" y="4871889"/>
            <a:ext cx="3669209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0"/>
          <p:cNvSpPr/>
          <p:nvPr/>
        </p:nvSpPr>
        <p:spPr>
          <a:xfrm>
            <a:off x="13285291" y="4263533"/>
            <a:ext cx="3512585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양 (+)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0"/>
          <p:cNvSpPr/>
          <p:nvPr/>
        </p:nvSpPr>
        <p:spPr>
          <a:xfrm>
            <a:off x="1600200" y="5900440"/>
            <a:ext cx="3458914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0"/>
          <p:cNvSpPr/>
          <p:nvPr/>
        </p:nvSpPr>
        <p:spPr>
          <a:xfrm>
            <a:off x="1600200" y="5292084"/>
            <a:ext cx="3295982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 내부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0"/>
          <p:cNvSpPr/>
          <p:nvPr/>
        </p:nvSpPr>
        <p:spPr>
          <a:xfrm>
            <a:off x="5059114" y="5900440"/>
            <a:ext cx="7959477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0"/>
          <p:cNvSpPr/>
          <p:nvPr/>
        </p:nvSpPr>
        <p:spPr>
          <a:xfrm>
            <a:off x="5325814" y="5292084"/>
            <a:ext cx="7664861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+0.819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0"/>
          <p:cNvSpPr/>
          <p:nvPr/>
        </p:nvSpPr>
        <p:spPr>
          <a:xfrm>
            <a:off x="13018591" y="5900440"/>
            <a:ext cx="3669209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0"/>
          <p:cNvSpPr/>
          <p:nvPr/>
        </p:nvSpPr>
        <p:spPr>
          <a:xfrm>
            <a:off x="13285291" y="5292084"/>
            <a:ext cx="3512585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양 (+)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0"/>
          <p:cNvSpPr/>
          <p:nvPr/>
        </p:nvSpPr>
        <p:spPr>
          <a:xfrm>
            <a:off x="1600200" y="6928991"/>
            <a:ext cx="3458914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0"/>
          <p:cNvSpPr/>
          <p:nvPr/>
        </p:nvSpPr>
        <p:spPr>
          <a:xfrm>
            <a:off x="1600200" y="6320635"/>
            <a:ext cx="3295982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두 나라 통합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0"/>
          <p:cNvSpPr/>
          <p:nvPr/>
        </p:nvSpPr>
        <p:spPr>
          <a:xfrm>
            <a:off x="5059114" y="6928991"/>
            <a:ext cx="7959477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0"/>
          <p:cNvSpPr/>
          <p:nvPr/>
        </p:nvSpPr>
        <p:spPr>
          <a:xfrm>
            <a:off x="5325814" y="6320635"/>
            <a:ext cx="7664861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D6006C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D6006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−0.673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0"/>
          <p:cNvSpPr/>
          <p:nvPr/>
        </p:nvSpPr>
        <p:spPr>
          <a:xfrm>
            <a:off x="13018591" y="6928991"/>
            <a:ext cx="3669209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0"/>
          <p:cNvSpPr/>
          <p:nvPr/>
        </p:nvSpPr>
        <p:spPr>
          <a:xfrm>
            <a:off x="13285291" y="6320635"/>
            <a:ext cx="3512585" cy="235785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4405"/>
              </a:lnSpc>
              <a:spcBef>
                <a:spcPts val="0"/>
              </a:spcBef>
              <a:spcAft>
                <a:spcPts val="0"/>
              </a:spcAft>
              <a:buClr>
                <a:srgbClr val="D6006C"/>
              </a:buClr>
              <a:buSzPts val="2325"/>
              <a:buFont typeface="Source Serif 4"/>
              <a:buNone/>
            </a:pPr>
            <a:r>
              <a:rPr b="0" i="0" lang="en-US" sz="2325" u="none" cap="none" strike="noStrike">
                <a:solidFill>
                  <a:srgbClr val="D6006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음 (−) — 반전</a:t>
            </a:r>
            <a:endParaRPr b="0" i="0" sz="23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0"/>
          <p:cNvSpPr/>
          <p:nvPr/>
        </p:nvSpPr>
        <p:spPr>
          <a:xfrm>
            <a:off x="1600200" y="8313986"/>
            <a:ext cx="13468499" cy="2104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946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집단별로는 양의 상관, 두 집단을 합치면 음의 상관 — 심프슨의 역설(Simpson’s Paradox)의 교과서적 사례다.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5" name="Google Shape;46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1"/>
          <p:cNvSpPr/>
          <p:nvPr/>
        </p:nvSpPr>
        <p:spPr>
          <a:xfrm>
            <a:off x="1221432" y="1326356"/>
            <a:ext cx="7439918" cy="2253407"/>
          </a:xfrm>
          <a:prstGeom prst="rect">
            <a:avLst/>
          </a:prstGeom>
          <a:solidFill>
            <a:srgbClr val="F3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1"/>
          <p:cNvSpPr/>
          <p:nvPr/>
        </p:nvSpPr>
        <p:spPr>
          <a:xfrm>
            <a:off x="1518493" y="720477"/>
            <a:ext cx="7530376" cy="342900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100000" dist="108543">
              <a:srgbClr val="F3F2F2"/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730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19500"/>
              <a:buFont typeface="Source Serif 4"/>
              <a:buNone/>
            </a:pPr>
            <a:r>
              <a:rPr b="1" i="0" lang="en-US" sz="19500" u="none" cap="none" strike="noStrike">
                <a:solidFill>
                  <a:srgbClr val="F3F2F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−0.673</a:t>
            </a:r>
            <a:endParaRPr b="0" i="0" sz="19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1"/>
          <p:cNvSpPr/>
          <p:nvPr/>
        </p:nvSpPr>
        <p:spPr>
          <a:xfrm>
            <a:off x="1518504" y="1623425"/>
            <a:ext cx="11784600" cy="1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730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19500"/>
              <a:buFont typeface="Source Serif 4"/>
              <a:buNone/>
            </a:pPr>
            <a:r>
              <a:rPr b="1" i="0" lang="en-US" sz="195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−0.6</a:t>
            </a:r>
            <a:r>
              <a:rPr b="1" lang="en-US" sz="19500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7</a:t>
            </a:r>
            <a:r>
              <a:rPr b="1" i="0" lang="en-US" sz="195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</a:t>
            </a:r>
            <a:endParaRPr b="0" i="0" sz="19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1"/>
          <p:cNvSpPr/>
          <p:nvPr/>
        </p:nvSpPr>
        <p:spPr>
          <a:xfrm>
            <a:off x="1518500" y="1586275"/>
            <a:ext cx="10743000" cy="1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730"/>
              </a:lnSpc>
              <a:spcBef>
                <a:spcPts val="0"/>
              </a:spcBef>
              <a:spcAft>
                <a:spcPts val="0"/>
              </a:spcAft>
              <a:buClr>
                <a:srgbClr val="D6006C"/>
              </a:buClr>
              <a:buSzPts val="19500"/>
              <a:buFont typeface="Source Serif 4"/>
              <a:buNone/>
            </a:pPr>
            <a:r>
              <a:rPr b="1" i="0" lang="en-US" sz="19500" u="none" cap="none" strike="noStrike">
                <a:solidFill>
                  <a:srgbClr val="D6006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−0.67</a:t>
            </a:r>
            <a:r>
              <a:rPr b="1" lang="en-US" sz="19500">
                <a:solidFill>
                  <a:srgbClr val="D6006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</a:t>
            </a:r>
            <a:endParaRPr b="0" i="0" sz="19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1"/>
          <p:cNvSpPr/>
          <p:nvPr/>
        </p:nvSpPr>
        <p:spPr>
          <a:xfrm>
            <a:off x="1432200" y="1586275"/>
            <a:ext cx="15255600" cy="1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730"/>
              </a:lnSpc>
              <a:spcBef>
                <a:spcPts val="0"/>
              </a:spcBef>
              <a:spcAft>
                <a:spcPts val="0"/>
              </a:spcAft>
              <a:buClr>
                <a:srgbClr val="EDBB00"/>
              </a:buClr>
              <a:buSzPts val="19500"/>
              <a:buFont typeface="Source Serif 4"/>
              <a:buNone/>
            </a:pPr>
            <a:r>
              <a:rPr b="1" i="0" lang="en-US" sz="19500" u="none" cap="none" strike="noStrike">
                <a:solidFill>
                  <a:srgbClr val="EDBB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−0.673</a:t>
            </a:r>
            <a:endParaRPr b="0" i="0" sz="19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1"/>
          <p:cNvSpPr/>
          <p:nvPr/>
        </p:nvSpPr>
        <p:spPr>
          <a:xfrm>
            <a:off x="1886963" y="3959902"/>
            <a:ext cx="7161900" cy="15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두 나라를 합쳐 계산한 고령화율×요양기관수 상관계수. 한국 내부 +0.742, 일본 내부 +0.819 — 집단 간 대비의 기울기가 집단 내부의 기울기를 압도해 부호가 뒤집힌다.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7" name="Google Shape;47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2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두 나라의 요양기관 통계는 다른 것을 세고 있었다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2"/>
          <p:cNvSpPr/>
          <p:nvPr/>
        </p:nvSpPr>
        <p:spPr>
          <a:xfrm>
            <a:off x="1600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한국 · KOSIS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2"/>
          <p:cNvSpPr/>
          <p:nvPr/>
        </p:nvSpPr>
        <p:spPr>
          <a:xfrm>
            <a:off x="1600200" y="3761929"/>
            <a:ext cx="729919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“장기요양기관 기관수”는 방문요양·주야간보호·노인요양시설 등 모든 서비스유형을 합산한 값이다.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2"/>
          <p:cNvSpPr/>
          <p:nvPr/>
        </p:nvSpPr>
        <p:spPr>
          <a:xfrm>
            <a:off x="1600200" y="5047655"/>
            <a:ext cx="7795260" cy="2294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그래서 절대값이 정의상 훨씬 크게 나온다.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2"/>
          <p:cNvSpPr/>
          <p:nvPr/>
        </p:nvSpPr>
        <p:spPr>
          <a:xfrm>
            <a:off x="9601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 · e-Stat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2"/>
          <p:cNvSpPr/>
          <p:nvPr/>
        </p:nvSpPr>
        <p:spPr>
          <a:xfrm>
            <a:off x="9601200" y="3761929"/>
            <a:ext cx="729919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“介護老人福祉施設数”는 그중 입소시설(특별양호노인홈) 한 유형만 집계한 값이다.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2"/>
          <p:cNvSpPr/>
          <p:nvPr/>
        </p:nvSpPr>
        <p:spPr>
          <a:xfrm>
            <a:off x="9601200" y="5047655"/>
            <a:ext cx="7299198" cy="12581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이를 모르고 두 나라 데이터를 단순 합산하면 “돌봄 인프라가 많을수록 고령화율이 낮다”는 존재하지 않는 착시에 빠진다.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0" name="Google Shape;49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3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세 사례 모두 설계 선택이 결론을 정했다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3"/>
          <p:cNvSpPr/>
          <p:nvPr/>
        </p:nvSpPr>
        <p:spPr>
          <a:xfrm>
            <a:off x="1600200" y="3651052"/>
            <a:ext cx="1845171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3"/>
          <p:cNvSpPr/>
          <p:nvPr/>
        </p:nvSpPr>
        <p:spPr>
          <a:xfrm>
            <a:off x="1600200" y="3076724"/>
            <a:ext cx="1692771" cy="3647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55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RQ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3"/>
          <p:cNvSpPr/>
          <p:nvPr/>
        </p:nvSpPr>
        <p:spPr>
          <a:xfrm>
            <a:off x="3445371" y="3651052"/>
            <a:ext cx="5009852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3"/>
          <p:cNvSpPr/>
          <p:nvPr/>
        </p:nvSpPr>
        <p:spPr>
          <a:xfrm>
            <a:off x="3673971" y="3076724"/>
            <a:ext cx="4702948" cy="3647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55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조건 A → 결론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3"/>
          <p:cNvSpPr/>
          <p:nvPr/>
        </p:nvSpPr>
        <p:spPr>
          <a:xfrm>
            <a:off x="8455223" y="3651052"/>
            <a:ext cx="4996011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3"/>
          <p:cNvSpPr/>
          <p:nvPr/>
        </p:nvSpPr>
        <p:spPr>
          <a:xfrm>
            <a:off x="8683823" y="3076724"/>
            <a:ext cx="4688692" cy="3647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55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조건 B → 결론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3"/>
          <p:cNvSpPr/>
          <p:nvPr/>
        </p:nvSpPr>
        <p:spPr>
          <a:xfrm>
            <a:off x="13451235" y="3651052"/>
            <a:ext cx="3236565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33"/>
          <p:cNvSpPr/>
          <p:nvPr/>
        </p:nvSpPr>
        <p:spPr>
          <a:xfrm>
            <a:off x="13679835" y="3076724"/>
            <a:ext cx="2876462" cy="3647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55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결론이 바뀐 원인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33"/>
          <p:cNvSpPr/>
          <p:nvPr/>
        </p:nvSpPr>
        <p:spPr>
          <a:xfrm>
            <a:off x="1600200" y="4528691"/>
            <a:ext cx="1845171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3"/>
          <p:cNvSpPr/>
          <p:nvPr/>
        </p:nvSpPr>
        <p:spPr>
          <a:xfrm>
            <a:off x="1600200" y="3908227"/>
            <a:ext cx="1692771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RQ1 기간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3"/>
          <p:cNvSpPr/>
          <p:nvPr/>
        </p:nvSpPr>
        <p:spPr>
          <a:xfrm>
            <a:off x="3445371" y="4528691"/>
            <a:ext cx="5009852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3"/>
          <p:cNvSpPr/>
          <p:nvPr/>
        </p:nvSpPr>
        <p:spPr>
          <a:xfrm>
            <a:off x="3673971" y="3908227"/>
            <a:ext cx="4702948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2015~2024 → 속도 ≈ 2배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3"/>
          <p:cNvSpPr/>
          <p:nvPr/>
        </p:nvSpPr>
        <p:spPr>
          <a:xfrm>
            <a:off x="8455223" y="4528691"/>
            <a:ext cx="4996011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3"/>
          <p:cNvSpPr/>
          <p:nvPr/>
        </p:nvSpPr>
        <p:spPr>
          <a:xfrm>
            <a:off x="8683823" y="3908227"/>
            <a:ext cx="4688692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2015~2023 → 속도 ≈ 1.8배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3"/>
          <p:cNvSpPr/>
          <p:nvPr/>
        </p:nvSpPr>
        <p:spPr>
          <a:xfrm>
            <a:off x="13451235" y="4528691"/>
            <a:ext cx="3236565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3"/>
          <p:cNvSpPr/>
          <p:nvPr/>
        </p:nvSpPr>
        <p:spPr>
          <a:xfrm>
            <a:off x="13679835" y="3908227"/>
            <a:ext cx="2876462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배율 지표의 끝점 민감성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3"/>
          <p:cNvSpPr/>
          <p:nvPr/>
        </p:nvSpPr>
        <p:spPr>
          <a:xfrm>
            <a:off x="1600200" y="5406330"/>
            <a:ext cx="1845171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33"/>
          <p:cNvSpPr/>
          <p:nvPr/>
        </p:nvSpPr>
        <p:spPr>
          <a:xfrm>
            <a:off x="1600200" y="4785866"/>
            <a:ext cx="1692771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RQ2 비교단위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3"/>
          <p:cNvSpPr/>
          <p:nvPr/>
        </p:nvSpPr>
        <p:spPr>
          <a:xfrm>
            <a:off x="3445371" y="5406330"/>
            <a:ext cx="5009852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3"/>
          <p:cNvSpPr/>
          <p:nvPr/>
        </p:nvSpPr>
        <p:spPr>
          <a:xfrm>
            <a:off x="3673971" y="4785866"/>
            <a:ext cx="4702948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전역 순위 → 취약지역 TOP15 전부 일본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3"/>
          <p:cNvSpPr/>
          <p:nvPr/>
        </p:nvSpPr>
        <p:spPr>
          <a:xfrm>
            <a:off x="8455223" y="5406330"/>
            <a:ext cx="4996011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3"/>
          <p:cNvSpPr/>
          <p:nvPr/>
        </p:nvSpPr>
        <p:spPr>
          <a:xfrm>
            <a:off x="8683823" y="4785866"/>
            <a:ext cx="4688692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국가별 순위 → 강원·야마가타 각각 도출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3"/>
          <p:cNvSpPr/>
          <p:nvPr/>
        </p:nvSpPr>
        <p:spPr>
          <a:xfrm>
            <a:off x="13451235" y="5406330"/>
            <a:ext cx="3236565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33"/>
          <p:cNvSpPr/>
          <p:nvPr/>
        </p:nvSpPr>
        <p:spPr>
          <a:xfrm>
            <a:off x="13679835" y="4785866"/>
            <a:ext cx="2876462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준거집단 혼합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3"/>
          <p:cNvSpPr/>
          <p:nvPr/>
        </p:nvSpPr>
        <p:spPr>
          <a:xfrm>
            <a:off x="1600200" y="6283970"/>
            <a:ext cx="1845171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3"/>
          <p:cNvSpPr/>
          <p:nvPr/>
        </p:nvSpPr>
        <p:spPr>
          <a:xfrm>
            <a:off x="1600200" y="5663505"/>
            <a:ext cx="1692771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RQ3 지표정의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3"/>
          <p:cNvSpPr/>
          <p:nvPr/>
        </p:nvSpPr>
        <p:spPr>
          <a:xfrm>
            <a:off x="3445371" y="6283970"/>
            <a:ext cx="5009852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3"/>
          <p:cNvSpPr/>
          <p:nvPr/>
        </p:nvSpPr>
        <p:spPr>
          <a:xfrm>
            <a:off x="3673971" y="5663505"/>
            <a:ext cx="4702948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 통합 → r = −0.673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3"/>
          <p:cNvSpPr/>
          <p:nvPr/>
        </p:nvSpPr>
        <p:spPr>
          <a:xfrm>
            <a:off x="8455223" y="6283970"/>
            <a:ext cx="4996011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33"/>
          <p:cNvSpPr/>
          <p:nvPr/>
        </p:nvSpPr>
        <p:spPr>
          <a:xfrm>
            <a:off x="8683823" y="5663505"/>
            <a:ext cx="4688692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 내부 → KR +0.742 / JP +0.819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3"/>
          <p:cNvSpPr/>
          <p:nvPr/>
        </p:nvSpPr>
        <p:spPr>
          <a:xfrm>
            <a:off x="13451235" y="6283970"/>
            <a:ext cx="3236565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33"/>
          <p:cNvSpPr/>
          <p:nvPr/>
        </p:nvSpPr>
        <p:spPr>
          <a:xfrm>
            <a:off x="13679835" y="5663505"/>
            <a:ext cx="2876462" cy="41091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조작적 정의 범위 차이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3"/>
          <p:cNvSpPr/>
          <p:nvPr/>
        </p:nvSpPr>
        <p:spPr>
          <a:xfrm>
            <a:off x="1600200" y="7411789"/>
            <a:ext cx="12611413" cy="72479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946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체크리스트 — 비교 기간이 양쪽에 공정한가, 비교 단위가 적절한 준거집단인가, 지표 정의가 양쪽에서 같은 범위를 가리키는가.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0" name="Google Shape;53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4"/>
          <p:cNvSpPr/>
          <p:nvPr/>
        </p:nvSpPr>
        <p:spPr>
          <a:xfrm>
            <a:off x="6524319" y="-10287000"/>
            <a:ext cx="18136210" cy="20574000"/>
          </a:xfrm>
          <a:prstGeom prst="rect">
            <a:avLst/>
          </a:prstGeom>
          <a:gradFill>
            <a:gsLst>
              <a:gs pos="0">
                <a:srgbClr val="EDBB00"/>
              </a:gs>
              <a:gs pos="50000">
                <a:srgbClr val="EDBB00"/>
              </a:gs>
              <a:gs pos="100000">
                <a:srgbClr val="EDBB0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4"/>
          <p:cNvSpPr/>
          <p:nvPr/>
        </p:nvSpPr>
        <p:spPr>
          <a:xfrm rot="900000">
            <a:off x="6574065" y="-10287000"/>
            <a:ext cx="18135603" cy="20574000"/>
          </a:xfrm>
          <a:prstGeom prst="rect">
            <a:avLst/>
          </a:prstGeom>
          <a:gradFill>
            <a:gsLst>
              <a:gs pos="0">
                <a:srgbClr val="0088B0"/>
              </a:gs>
              <a:gs pos="50000">
                <a:srgbClr val="0088B0"/>
              </a:gs>
              <a:gs pos="100000">
                <a:srgbClr val="0088B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34"/>
          <p:cNvSpPr/>
          <p:nvPr/>
        </p:nvSpPr>
        <p:spPr>
          <a:xfrm rot="4500000">
            <a:off x="6535459" y="-10287000"/>
            <a:ext cx="18135603" cy="20574000"/>
          </a:xfrm>
          <a:prstGeom prst="rect">
            <a:avLst/>
          </a:prstGeom>
          <a:gradFill>
            <a:gsLst>
              <a:gs pos="0">
                <a:srgbClr val="D6006C"/>
              </a:gs>
              <a:gs pos="50000">
                <a:srgbClr val="D6006C"/>
              </a:gs>
              <a:gs pos="100000">
                <a:srgbClr val="D6006C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4"/>
          <p:cNvSpPr/>
          <p:nvPr/>
        </p:nvSpPr>
        <p:spPr>
          <a:xfrm>
            <a:off x="4133850" y="190500"/>
            <a:ext cx="152400" cy="152400"/>
          </a:xfrm>
          <a:prstGeom prst="rect">
            <a:avLst/>
          </a:prstGeom>
          <a:solidFill>
            <a:srgbClr val="0088B0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34"/>
          <p:cNvSpPr/>
          <p:nvPr/>
        </p:nvSpPr>
        <p:spPr>
          <a:xfrm>
            <a:off x="4276725" y="190500"/>
            <a:ext cx="152400" cy="152400"/>
          </a:xfrm>
          <a:prstGeom prst="rect">
            <a:avLst/>
          </a:prstGeom>
          <a:solidFill>
            <a:srgbClr val="D6006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4"/>
          <p:cNvSpPr/>
          <p:nvPr/>
        </p:nvSpPr>
        <p:spPr>
          <a:xfrm>
            <a:off x="4419600" y="190500"/>
            <a:ext cx="152400" cy="152400"/>
          </a:xfrm>
          <a:prstGeom prst="rect">
            <a:avLst/>
          </a:prstGeom>
          <a:solidFill>
            <a:srgbClr val="EDBB00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4"/>
          <p:cNvSpPr/>
          <p:nvPr/>
        </p:nvSpPr>
        <p:spPr>
          <a:xfrm>
            <a:off x="4562475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34"/>
          <p:cNvSpPr/>
          <p:nvPr/>
        </p:nvSpPr>
        <p:spPr>
          <a:xfrm>
            <a:off x="4705350" y="190500"/>
            <a:ext cx="152400" cy="152400"/>
          </a:xfrm>
          <a:prstGeom prst="rect">
            <a:avLst/>
          </a:prstGeom>
          <a:gradFill>
            <a:gsLst>
              <a:gs pos="0">
                <a:srgbClr val="D6006C"/>
              </a:gs>
              <a:gs pos="100000">
                <a:srgbClr val="D6006C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4"/>
          <p:cNvSpPr/>
          <p:nvPr/>
        </p:nvSpPr>
        <p:spPr>
          <a:xfrm>
            <a:off x="4848225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4"/>
          <p:cNvSpPr/>
          <p:nvPr/>
        </p:nvSpPr>
        <p:spPr>
          <a:xfrm>
            <a:off x="4991100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34"/>
          <p:cNvSpPr/>
          <p:nvPr/>
        </p:nvSpPr>
        <p:spPr>
          <a:xfrm>
            <a:off x="5133975" y="190500"/>
            <a:ext cx="152400" cy="152400"/>
          </a:xfrm>
          <a:prstGeom prst="rect">
            <a:avLst/>
          </a:prstGeom>
          <a:solidFill>
            <a:srgbClr val="201E1D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4"/>
          <p:cNvSpPr/>
          <p:nvPr/>
        </p:nvSpPr>
        <p:spPr>
          <a:xfrm>
            <a:off x="3990975" y="9944100"/>
            <a:ext cx="152400" cy="152400"/>
          </a:xfrm>
          <a:prstGeom prst="rect">
            <a:avLst/>
          </a:prstGeom>
          <a:solidFill>
            <a:srgbClr val="201E1D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4"/>
          <p:cNvSpPr/>
          <p:nvPr/>
        </p:nvSpPr>
        <p:spPr>
          <a:xfrm>
            <a:off x="4133850" y="9944100"/>
            <a:ext cx="152400" cy="152400"/>
          </a:xfrm>
          <a:prstGeom prst="rect">
            <a:avLst/>
          </a:prstGeom>
          <a:solidFill>
            <a:srgbClr val="373534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4"/>
          <p:cNvSpPr/>
          <p:nvPr/>
        </p:nvSpPr>
        <p:spPr>
          <a:xfrm>
            <a:off x="4276725" y="9944100"/>
            <a:ext cx="152400" cy="152400"/>
          </a:xfrm>
          <a:prstGeom prst="rect">
            <a:avLst/>
          </a:prstGeom>
          <a:solidFill>
            <a:srgbClr val="4E4D4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4"/>
          <p:cNvSpPr/>
          <p:nvPr/>
        </p:nvSpPr>
        <p:spPr>
          <a:xfrm>
            <a:off x="4419600" y="9944100"/>
            <a:ext cx="152400" cy="152400"/>
          </a:xfrm>
          <a:prstGeom prst="rect">
            <a:avLst/>
          </a:prstGeom>
          <a:solidFill>
            <a:srgbClr val="666463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4"/>
          <p:cNvSpPr/>
          <p:nvPr/>
        </p:nvSpPr>
        <p:spPr>
          <a:xfrm>
            <a:off x="4562475" y="9944100"/>
            <a:ext cx="152400" cy="152400"/>
          </a:xfrm>
          <a:prstGeom prst="rect">
            <a:avLst/>
          </a:prstGeom>
          <a:solidFill>
            <a:srgbClr val="7D7B7B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34"/>
          <p:cNvSpPr/>
          <p:nvPr/>
        </p:nvSpPr>
        <p:spPr>
          <a:xfrm>
            <a:off x="4705350" y="9944100"/>
            <a:ext cx="152400" cy="152400"/>
          </a:xfrm>
          <a:prstGeom prst="rect">
            <a:avLst/>
          </a:prstGeom>
          <a:solidFill>
            <a:srgbClr val="969594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4"/>
          <p:cNvSpPr/>
          <p:nvPr/>
        </p:nvSpPr>
        <p:spPr>
          <a:xfrm>
            <a:off x="4848225" y="9944100"/>
            <a:ext cx="152400" cy="152400"/>
          </a:xfrm>
          <a:prstGeom prst="rect">
            <a:avLst/>
          </a:prstGeom>
          <a:solidFill>
            <a:srgbClr val="ADACA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34"/>
          <p:cNvSpPr/>
          <p:nvPr/>
        </p:nvSpPr>
        <p:spPr>
          <a:xfrm>
            <a:off x="4991100" y="9944100"/>
            <a:ext cx="152400" cy="152400"/>
          </a:xfrm>
          <a:prstGeom prst="rect">
            <a:avLst/>
          </a:prstGeom>
          <a:solidFill>
            <a:srgbClr val="C5C3C3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34"/>
          <p:cNvSpPr/>
          <p:nvPr/>
        </p:nvSpPr>
        <p:spPr>
          <a:xfrm>
            <a:off x="5133975" y="9944100"/>
            <a:ext cx="152400" cy="152400"/>
          </a:xfrm>
          <a:prstGeom prst="rect">
            <a:avLst/>
          </a:prstGeom>
          <a:solidFill>
            <a:srgbClr val="DCDBDB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34"/>
          <p:cNvSpPr/>
          <p:nvPr/>
        </p:nvSpPr>
        <p:spPr>
          <a:xfrm>
            <a:off x="5276850" y="9944100"/>
            <a:ext cx="152400" cy="152400"/>
          </a:xfrm>
          <a:prstGeom prst="rect">
            <a:avLst/>
          </a:prstGeom>
          <a:solidFill>
            <a:srgbClr val="F3F2F2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34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4"/>
          <p:cNvSpPr/>
          <p:nvPr/>
        </p:nvSpPr>
        <p:spPr>
          <a:xfrm>
            <a:off x="1580257" y="1674614"/>
            <a:ext cx="4453756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결론과 정책 제언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1075581" y="4492079"/>
            <a:ext cx="4504432" cy="3120182"/>
          </a:xfrm>
          <a:prstGeom prst="rect">
            <a:avLst/>
          </a:prstGeom>
          <a:solidFill>
            <a:srgbClr val="F3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4"/>
          <p:cNvSpPr/>
          <p:nvPr/>
        </p:nvSpPr>
        <p:spPr>
          <a:xfrm>
            <a:off x="1486942" y="3648075"/>
            <a:ext cx="4049881" cy="474345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100000" dist="150290">
              <a:srgbClr val="F3F2F2"/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F3F2F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4"/>
          <p:cNvSpPr/>
          <p:nvPr/>
        </p:nvSpPr>
        <p:spPr>
          <a:xfrm>
            <a:off x="1486942" y="4903440"/>
            <a:ext cx="4049881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4"/>
          <p:cNvSpPr/>
          <p:nvPr/>
        </p:nvSpPr>
        <p:spPr>
          <a:xfrm>
            <a:off x="1597362" y="4997309"/>
            <a:ext cx="4049881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D6006C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D6006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4"/>
          <p:cNvSpPr/>
          <p:nvPr/>
        </p:nvSpPr>
        <p:spPr>
          <a:xfrm>
            <a:off x="1367619" y="4832717"/>
            <a:ext cx="4049881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EDBB00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EDBB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05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35"/>
          <p:cNvSpPr/>
          <p:nvPr/>
        </p:nvSpPr>
        <p:spPr>
          <a:xfrm>
            <a:off x="1580257" y="903089"/>
            <a:ext cx="15560769" cy="1192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예산 우선순위는 전역 순위가 아니라 국가 내 순위로 정해야 한다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5"/>
          <p:cNvSpPr/>
          <p:nvPr/>
        </p:nvSpPr>
        <p:spPr>
          <a:xfrm>
            <a:off x="1600200" y="4422577"/>
            <a:ext cx="3608784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35"/>
          <p:cNvSpPr/>
          <p:nvPr/>
        </p:nvSpPr>
        <p:spPr>
          <a:xfrm>
            <a:off x="1600200" y="3848249"/>
            <a:ext cx="3488448" cy="3647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55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발견된 문제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5"/>
          <p:cNvSpPr/>
          <p:nvPr/>
        </p:nvSpPr>
        <p:spPr>
          <a:xfrm>
            <a:off x="5208984" y="4422577"/>
            <a:ext cx="5698480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5"/>
          <p:cNvSpPr/>
          <p:nvPr/>
        </p:nvSpPr>
        <p:spPr>
          <a:xfrm>
            <a:off x="5437584" y="3848249"/>
            <a:ext cx="5412234" cy="3647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55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분석 결과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5"/>
          <p:cNvSpPr/>
          <p:nvPr/>
        </p:nvSpPr>
        <p:spPr>
          <a:xfrm>
            <a:off x="10907464" y="4422577"/>
            <a:ext cx="5780336" cy="9525"/>
          </a:xfrm>
          <a:prstGeom prst="rect">
            <a:avLst/>
          </a:prstGeom>
          <a:solidFill>
            <a:srgbClr val="1F1F1F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35"/>
          <p:cNvSpPr/>
          <p:nvPr/>
        </p:nvSpPr>
        <p:spPr>
          <a:xfrm>
            <a:off x="11136064" y="3848249"/>
            <a:ext cx="5496546" cy="36477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455"/>
              </a:lnSpc>
              <a:spcBef>
                <a:spcPts val="0"/>
              </a:spcBef>
              <a:spcAft>
                <a:spcPts val="0"/>
              </a:spcAft>
              <a:buClr>
                <a:srgbClr val="201E1C"/>
              </a:buClr>
              <a:buSzPts val="1800"/>
              <a:buFont typeface="Source Serif 4"/>
              <a:buNone/>
            </a:pPr>
            <a:r>
              <a:rPr b="1" i="0" lang="en-US" sz="1800" u="none" cap="none" strike="noStrike">
                <a:solidFill>
                  <a:srgbClr val="201E1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제안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5"/>
          <p:cNvSpPr/>
          <p:nvPr/>
        </p:nvSpPr>
        <p:spPr>
          <a:xfrm>
            <a:off x="1600200" y="5673030"/>
            <a:ext cx="3608784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35"/>
          <p:cNvSpPr/>
          <p:nvPr/>
        </p:nvSpPr>
        <p:spPr>
          <a:xfrm>
            <a:off x="1600200" y="4679752"/>
            <a:ext cx="3488448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한국의 고령화 속도가 일본보다 약 1.8배 빠름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35"/>
          <p:cNvSpPr/>
          <p:nvPr/>
        </p:nvSpPr>
        <p:spPr>
          <a:xfrm>
            <a:off x="5208984" y="5673030"/>
            <a:ext cx="5698480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35"/>
          <p:cNvSpPr/>
          <p:nvPr/>
        </p:nvSpPr>
        <p:spPr>
          <a:xfrm>
            <a:off x="5437584" y="4679752"/>
            <a:ext cx="5412234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8년간 한국 연 +0.72%p vs 일본 연 +0.41%p. 부산·강원·울산·경북·대구 순으로 증가폭 최대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5"/>
          <p:cNvSpPr/>
          <p:nvPr/>
        </p:nvSpPr>
        <p:spPr>
          <a:xfrm>
            <a:off x="10907464" y="5673030"/>
            <a:ext cx="5780336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5"/>
          <p:cNvSpPr/>
          <p:nvPr/>
        </p:nvSpPr>
        <p:spPr>
          <a:xfrm>
            <a:off x="11136064" y="4679752"/>
            <a:ext cx="5496546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증가폭이 큰 광역시·도를 인프라 확충 예산 우선 배정 대상으로 지정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35"/>
          <p:cNvSpPr/>
          <p:nvPr/>
        </p:nvSpPr>
        <p:spPr>
          <a:xfrm>
            <a:off x="1600200" y="7296299"/>
            <a:ext cx="3608784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5"/>
          <p:cNvSpPr/>
          <p:nvPr/>
        </p:nvSpPr>
        <p:spPr>
          <a:xfrm>
            <a:off x="1600200" y="5930205"/>
            <a:ext cx="3488448" cy="1156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고령화율은 높은데 인프라는 낮은 지역이 전역 순위로는 보이지 않음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5"/>
          <p:cNvSpPr/>
          <p:nvPr/>
        </p:nvSpPr>
        <p:spPr>
          <a:xfrm>
            <a:off x="5208984" y="7296299"/>
            <a:ext cx="5698480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5"/>
          <p:cNvSpPr/>
          <p:nvPr/>
        </p:nvSpPr>
        <p:spPr>
          <a:xfrm>
            <a:off x="5437584" y="5930205"/>
            <a:ext cx="5412234" cy="1156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국가별 격차지수 1위는 한국 강원특별자치도(병상수 108.2, 전국평균 151.8 대비 29% 낮음), 일본 야마가타현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5"/>
          <p:cNvSpPr/>
          <p:nvPr/>
        </p:nvSpPr>
        <p:spPr>
          <a:xfrm>
            <a:off x="10907464" y="7296299"/>
            <a:ext cx="5780336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35"/>
          <p:cNvSpPr/>
          <p:nvPr/>
        </p:nvSpPr>
        <p:spPr>
          <a:xfrm>
            <a:off x="11136064" y="5930205"/>
            <a:ext cx="5496546" cy="11565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전역 순위 대신 국가별 순위로 예산 우선순위를 정하고, 강원은 병상수를 전국평균까지 끌어올리는 것을 단기 목표로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5"/>
          <p:cNvSpPr/>
          <p:nvPr/>
        </p:nvSpPr>
        <p:spPr>
          <a:xfrm>
            <a:off x="1600200" y="8546753"/>
            <a:ext cx="3608784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35"/>
          <p:cNvSpPr/>
          <p:nvPr/>
        </p:nvSpPr>
        <p:spPr>
          <a:xfrm>
            <a:off x="1600200" y="7553474"/>
            <a:ext cx="3488448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통계 정의 차이로 국가 간 비교 시 상관관계가 왜곡됨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5"/>
          <p:cNvSpPr/>
          <p:nvPr/>
        </p:nvSpPr>
        <p:spPr>
          <a:xfrm>
            <a:off x="5208984" y="8546753"/>
            <a:ext cx="5698480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35"/>
          <p:cNvSpPr/>
          <p:nvPr/>
        </p:nvSpPr>
        <p:spPr>
          <a:xfrm>
            <a:off x="5437584" y="7553474"/>
            <a:ext cx="5412234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 내부 +0.742 / +0.819 vs 국가 통합 −0.673으로 부호가 반대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5"/>
          <p:cNvSpPr/>
          <p:nvPr/>
        </p:nvSpPr>
        <p:spPr>
          <a:xfrm>
            <a:off x="10907464" y="8546753"/>
            <a:ext cx="5780336" cy="9525"/>
          </a:xfrm>
          <a:prstGeom prst="rect">
            <a:avLst/>
          </a:prstGeom>
          <a:solidFill>
            <a:srgbClr val="261A1A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35"/>
          <p:cNvSpPr/>
          <p:nvPr/>
        </p:nvSpPr>
        <p:spPr>
          <a:xfrm>
            <a:off x="11136064" y="7553474"/>
            <a:ext cx="5496546" cy="78372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811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025"/>
              <a:buFont typeface="Source Serif 4"/>
              <a:buNone/>
            </a:pPr>
            <a:r>
              <a:rPr b="0" i="0" lang="en-US" sz="2025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국가 간 비교 자료에 지표 정의 각주를 필수화하고, 정의를 통일한 보정 지표를 개발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94" name="Google Shape;59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6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세 사례는 모두 사후적으로 발견되었다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6"/>
          <p:cNvSpPr/>
          <p:nvPr/>
        </p:nvSpPr>
        <p:spPr>
          <a:xfrm>
            <a:off x="1360170" y="3113633"/>
            <a:ext cx="12698730" cy="54113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상관관계는 인과관계가 아니다 — 4장의 논의도 “측정 정의가 통계량을 어떻게 바꾸는가”로 한정된다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64개 “지역” 표본을 국가 단위 진술로 일반화할 수 없다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 2024년 인프라 데이터 결측으로 인한 기간 절단이 남아 있다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장기요양기관 정의 차이를 보정한 표준화 지표 개발이 과제로 남는다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20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0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세 사례 모두 사후적으로 발견되었다 — 설계 단계에서부터 기간·단위·정의의 민감도 분석을 포함하는 것이 바람직하다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2" name="Google Shape;60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37"/>
          <p:cNvSpPr/>
          <p:nvPr/>
        </p:nvSpPr>
        <p:spPr>
          <a:xfrm>
            <a:off x="1569541" y="1623417"/>
            <a:ext cx="16630084" cy="6252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5714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6900"/>
              <a:buFont typeface="Source Serif 4"/>
              <a:buNone/>
            </a:pPr>
            <a:r>
              <a:rPr b="1" i="0" lang="en-US" sz="69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감사합니다</a:t>
            </a:r>
            <a:endParaRPr b="0" i="0" sz="6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7"/>
          <p:cNvSpPr/>
          <p:nvPr/>
        </p:nvSpPr>
        <p:spPr>
          <a:xfrm>
            <a:off x="1600200" y="2610594"/>
            <a:ext cx="6983581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103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3150"/>
              <a:buFont typeface="Source Serif 4"/>
              <a:buNone/>
            </a:pPr>
            <a:r>
              <a:rPr b="0" i="0" lang="en-US" sz="3150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질문 부탁드립니다</a:t>
            </a:r>
            <a:endParaRPr b="0" i="0" sz="3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7"/>
          <p:cNvSpPr/>
          <p:nvPr/>
        </p:nvSpPr>
        <p:spPr>
          <a:xfrm>
            <a:off x="1600200" y="9105156"/>
            <a:ext cx="1234529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발표자 이름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7"/>
          <p:cNvSpPr/>
          <p:nvPr/>
        </p:nvSpPr>
        <p:spPr>
          <a:xfrm>
            <a:off x="2929979" y="9105156"/>
            <a:ext cx="145256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·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7"/>
          <p:cNvSpPr/>
          <p:nvPr/>
        </p:nvSpPr>
        <p:spPr>
          <a:xfrm>
            <a:off x="3170486" y="9105156"/>
            <a:ext cx="2741012" cy="1912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727"/>
              </a:lnSpc>
              <a:spcBef>
                <a:spcPts val="0"/>
              </a:spcBef>
              <a:spcAft>
                <a:spcPts val="0"/>
              </a:spcAft>
              <a:buClr>
                <a:srgbClr val="211D1D"/>
              </a:buClr>
              <a:buSzPts val="1800"/>
              <a:buFont typeface="Source Serif 4"/>
              <a:buNone/>
            </a:pPr>
            <a:r>
              <a:rPr b="0" i="0" lang="en-US" sz="1800" u="none" cap="none" strike="noStrike">
                <a:solidFill>
                  <a:srgbClr val="211D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부록에 백업 슬라이드 3장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7"/>
          <p:cNvSpPr/>
          <p:nvPr/>
        </p:nvSpPr>
        <p:spPr>
          <a:xfrm>
            <a:off x="4410075" y="190500"/>
            <a:ext cx="6096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25000">
                <a:srgbClr val="0088B0"/>
              </a:gs>
              <a:gs pos="50000">
                <a:srgbClr val="D6006C"/>
              </a:gs>
              <a:gs pos="75000">
                <a:srgbClr val="EDBB00"/>
              </a:gs>
              <a:gs pos="100000">
                <a:srgbClr val="201E1D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38"/>
          <p:cNvSpPr/>
          <p:nvPr/>
        </p:nvSpPr>
        <p:spPr>
          <a:xfrm>
            <a:off x="6524319" y="-10287000"/>
            <a:ext cx="18136210" cy="20574000"/>
          </a:xfrm>
          <a:prstGeom prst="rect">
            <a:avLst/>
          </a:prstGeom>
          <a:gradFill>
            <a:gsLst>
              <a:gs pos="0">
                <a:srgbClr val="EDBB00"/>
              </a:gs>
              <a:gs pos="50000">
                <a:srgbClr val="EDBB00"/>
              </a:gs>
              <a:gs pos="100000">
                <a:srgbClr val="EDBB0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38"/>
          <p:cNvSpPr/>
          <p:nvPr/>
        </p:nvSpPr>
        <p:spPr>
          <a:xfrm rot="900000">
            <a:off x="6574065" y="-10287000"/>
            <a:ext cx="18135603" cy="20574000"/>
          </a:xfrm>
          <a:prstGeom prst="rect">
            <a:avLst/>
          </a:prstGeom>
          <a:gradFill>
            <a:gsLst>
              <a:gs pos="0">
                <a:srgbClr val="0088B0"/>
              </a:gs>
              <a:gs pos="50000">
                <a:srgbClr val="0088B0"/>
              </a:gs>
              <a:gs pos="100000">
                <a:srgbClr val="0088B0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38"/>
          <p:cNvSpPr/>
          <p:nvPr/>
        </p:nvSpPr>
        <p:spPr>
          <a:xfrm rot="4500000">
            <a:off x="6535459" y="-10287000"/>
            <a:ext cx="18135603" cy="20574000"/>
          </a:xfrm>
          <a:prstGeom prst="rect">
            <a:avLst/>
          </a:prstGeom>
          <a:gradFill>
            <a:gsLst>
              <a:gs pos="0">
                <a:srgbClr val="D6006C"/>
              </a:gs>
              <a:gs pos="50000">
                <a:srgbClr val="D6006C"/>
              </a:gs>
              <a:gs pos="100000">
                <a:srgbClr val="D6006C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38"/>
          <p:cNvSpPr/>
          <p:nvPr/>
        </p:nvSpPr>
        <p:spPr>
          <a:xfrm>
            <a:off x="4133850" y="190500"/>
            <a:ext cx="152400" cy="152400"/>
          </a:xfrm>
          <a:prstGeom prst="rect">
            <a:avLst/>
          </a:prstGeom>
          <a:solidFill>
            <a:srgbClr val="0088B0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38"/>
          <p:cNvSpPr/>
          <p:nvPr/>
        </p:nvSpPr>
        <p:spPr>
          <a:xfrm>
            <a:off x="4276725" y="190500"/>
            <a:ext cx="152400" cy="152400"/>
          </a:xfrm>
          <a:prstGeom prst="rect">
            <a:avLst/>
          </a:prstGeom>
          <a:solidFill>
            <a:srgbClr val="D6006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38"/>
          <p:cNvSpPr/>
          <p:nvPr/>
        </p:nvSpPr>
        <p:spPr>
          <a:xfrm>
            <a:off x="4419600" y="190500"/>
            <a:ext cx="152400" cy="152400"/>
          </a:xfrm>
          <a:prstGeom prst="rect">
            <a:avLst/>
          </a:prstGeom>
          <a:solidFill>
            <a:srgbClr val="EDBB00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38"/>
          <p:cNvSpPr/>
          <p:nvPr/>
        </p:nvSpPr>
        <p:spPr>
          <a:xfrm>
            <a:off x="4562475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38"/>
          <p:cNvSpPr/>
          <p:nvPr/>
        </p:nvSpPr>
        <p:spPr>
          <a:xfrm>
            <a:off x="4705350" y="190500"/>
            <a:ext cx="152400" cy="152400"/>
          </a:xfrm>
          <a:prstGeom prst="rect">
            <a:avLst/>
          </a:prstGeom>
          <a:gradFill>
            <a:gsLst>
              <a:gs pos="0">
                <a:srgbClr val="D6006C"/>
              </a:gs>
              <a:gs pos="100000">
                <a:srgbClr val="D6006C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38"/>
          <p:cNvSpPr/>
          <p:nvPr/>
        </p:nvSpPr>
        <p:spPr>
          <a:xfrm>
            <a:off x="4848225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8"/>
          <p:cNvSpPr/>
          <p:nvPr/>
        </p:nvSpPr>
        <p:spPr>
          <a:xfrm>
            <a:off x="4991100" y="190500"/>
            <a:ext cx="152400" cy="152400"/>
          </a:xfrm>
          <a:prstGeom prst="rect">
            <a:avLst/>
          </a:prstGeom>
          <a:gradFill>
            <a:gsLst>
              <a:gs pos="0">
                <a:srgbClr val="0088B0"/>
              </a:gs>
              <a:gs pos="100000">
                <a:srgbClr val="0088B0"/>
              </a:gs>
            </a:gsLst>
            <a:lin ang="5400000" scaled="0"/>
          </a:gra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8"/>
          <p:cNvSpPr/>
          <p:nvPr/>
        </p:nvSpPr>
        <p:spPr>
          <a:xfrm>
            <a:off x="5133975" y="190500"/>
            <a:ext cx="152400" cy="152400"/>
          </a:xfrm>
          <a:prstGeom prst="rect">
            <a:avLst/>
          </a:prstGeom>
          <a:solidFill>
            <a:srgbClr val="201E1D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8"/>
          <p:cNvSpPr/>
          <p:nvPr/>
        </p:nvSpPr>
        <p:spPr>
          <a:xfrm>
            <a:off x="3990975" y="9944100"/>
            <a:ext cx="152400" cy="152400"/>
          </a:xfrm>
          <a:prstGeom prst="rect">
            <a:avLst/>
          </a:prstGeom>
          <a:solidFill>
            <a:srgbClr val="201E1D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38"/>
          <p:cNvSpPr/>
          <p:nvPr/>
        </p:nvSpPr>
        <p:spPr>
          <a:xfrm>
            <a:off x="4133850" y="9944100"/>
            <a:ext cx="152400" cy="152400"/>
          </a:xfrm>
          <a:prstGeom prst="rect">
            <a:avLst/>
          </a:prstGeom>
          <a:solidFill>
            <a:srgbClr val="373534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38"/>
          <p:cNvSpPr/>
          <p:nvPr/>
        </p:nvSpPr>
        <p:spPr>
          <a:xfrm>
            <a:off x="4276725" y="9944100"/>
            <a:ext cx="152400" cy="152400"/>
          </a:xfrm>
          <a:prstGeom prst="rect">
            <a:avLst/>
          </a:prstGeom>
          <a:solidFill>
            <a:srgbClr val="4E4D4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8"/>
          <p:cNvSpPr/>
          <p:nvPr/>
        </p:nvSpPr>
        <p:spPr>
          <a:xfrm>
            <a:off x="4419600" y="9944100"/>
            <a:ext cx="152400" cy="152400"/>
          </a:xfrm>
          <a:prstGeom prst="rect">
            <a:avLst/>
          </a:prstGeom>
          <a:solidFill>
            <a:srgbClr val="666463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38"/>
          <p:cNvSpPr/>
          <p:nvPr/>
        </p:nvSpPr>
        <p:spPr>
          <a:xfrm>
            <a:off x="4562475" y="9944100"/>
            <a:ext cx="152400" cy="152400"/>
          </a:xfrm>
          <a:prstGeom prst="rect">
            <a:avLst/>
          </a:prstGeom>
          <a:solidFill>
            <a:srgbClr val="7D7B7B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8"/>
          <p:cNvSpPr/>
          <p:nvPr/>
        </p:nvSpPr>
        <p:spPr>
          <a:xfrm>
            <a:off x="4705350" y="9944100"/>
            <a:ext cx="152400" cy="152400"/>
          </a:xfrm>
          <a:prstGeom prst="rect">
            <a:avLst/>
          </a:prstGeom>
          <a:solidFill>
            <a:srgbClr val="969594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38"/>
          <p:cNvSpPr/>
          <p:nvPr/>
        </p:nvSpPr>
        <p:spPr>
          <a:xfrm>
            <a:off x="4848225" y="9944100"/>
            <a:ext cx="152400" cy="152400"/>
          </a:xfrm>
          <a:prstGeom prst="rect">
            <a:avLst/>
          </a:prstGeom>
          <a:solidFill>
            <a:srgbClr val="ADACAC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8"/>
          <p:cNvSpPr/>
          <p:nvPr/>
        </p:nvSpPr>
        <p:spPr>
          <a:xfrm>
            <a:off x="4991100" y="9944100"/>
            <a:ext cx="152400" cy="152400"/>
          </a:xfrm>
          <a:prstGeom prst="rect">
            <a:avLst/>
          </a:prstGeom>
          <a:solidFill>
            <a:srgbClr val="C5C3C3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8"/>
          <p:cNvSpPr/>
          <p:nvPr/>
        </p:nvSpPr>
        <p:spPr>
          <a:xfrm>
            <a:off x="5133975" y="9944100"/>
            <a:ext cx="152400" cy="152400"/>
          </a:xfrm>
          <a:prstGeom prst="rect">
            <a:avLst/>
          </a:prstGeom>
          <a:solidFill>
            <a:srgbClr val="DCDBDB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38"/>
          <p:cNvSpPr/>
          <p:nvPr/>
        </p:nvSpPr>
        <p:spPr>
          <a:xfrm>
            <a:off x="5276850" y="9944100"/>
            <a:ext cx="152400" cy="152400"/>
          </a:xfrm>
          <a:prstGeom prst="rect">
            <a:avLst/>
          </a:prstGeom>
          <a:solidFill>
            <a:srgbClr val="F3F2F2"/>
          </a:solidFill>
          <a:ln cap="flat" cmpd="sng" w="9525">
            <a:solidFill>
              <a:srgbClr val="1F1F1F">
                <a:alpha val="1607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38"/>
          <p:cNvSpPr/>
          <p:nvPr/>
        </p:nvSpPr>
        <p:spPr>
          <a:xfrm>
            <a:off x="5895975" y="9906000"/>
            <a:ext cx="228600" cy="228600"/>
          </a:xfrm>
          <a:prstGeom prst="ellipse">
            <a:avLst/>
          </a:prstGeom>
          <a:solidFill>
            <a:srgbClr val="201E1D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8"/>
          <p:cNvSpPr/>
          <p:nvPr/>
        </p:nvSpPr>
        <p:spPr>
          <a:xfrm>
            <a:off x="1580257" y="1674614"/>
            <a:ext cx="1163241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부록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8"/>
          <p:cNvSpPr/>
          <p:nvPr/>
        </p:nvSpPr>
        <p:spPr>
          <a:xfrm>
            <a:off x="1075581" y="4492079"/>
            <a:ext cx="4551015" cy="3120182"/>
          </a:xfrm>
          <a:prstGeom prst="rect">
            <a:avLst/>
          </a:prstGeom>
          <a:solidFill>
            <a:srgbClr val="F3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38"/>
          <p:cNvSpPr/>
          <p:nvPr/>
        </p:nvSpPr>
        <p:spPr>
          <a:xfrm>
            <a:off x="1486942" y="3648075"/>
            <a:ext cx="4101123" cy="4743450"/>
          </a:xfrm>
          <a:prstGeom prst="rect">
            <a:avLst/>
          </a:prstGeom>
          <a:noFill/>
          <a:ln>
            <a:noFill/>
          </a:ln>
          <a:effectLst>
            <a:outerShdw blurRad="101600" rotWithShape="0" algn="bl" dir="2100000" dist="150290">
              <a:srgbClr val="F3F2F2"/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F3F2F2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F3F2F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8"/>
          <p:cNvSpPr/>
          <p:nvPr/>
        </p:nvSpPr>
        <p:spPr>
          <a:xfrm>
            <a:off x="1486942" y="4903440"/>
            <a:ext cx="4101123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0088B0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0088B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8"/>
          <p:cNvSpPr/>
          <p:nvPr/>
        </p:nvSpPr>
        <p:spPr>
          <a:xfrm>
            <a:off x="1597362" y="4997309"/>
            <a:ext cx="4101123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D6006C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D6006C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8"/>
          <p:cNvSpPr/>
          <p:nvPr/>
        </p:nvSpPr>
        <p:spPr>
          <a:xfrm>
            <a:off x="1367619" y="4832717"/>
            <a:ext cx="4101123" cy="23355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587"/>
              </a:lnSpc>
              <a:spcBef>
                <a:spcPts val="0"/>
              </a:spcBef>
              <a:spcAft>
                <a:spcPts val="0"/>
              </a:spcAft>
              <a:buClr>
                <a:srgbClr val="EDBB00"/>
              </a:buClr>
              <a:buSzPts val="27000"/>
              <a:buFont typeface="Source Serif 4"/>
              <a:buNone/>
            </a:pPr>
            <a:r>
              <a:rPr b="1" i="0" lang="en-US" sz="27000" u="none" cap="none" strike="noStrike">
                <a:solidFill>
                  <a:srgbClr val="EDBB0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06</a:t>
            </a:r>
            <a:endParaRPr b="0" i="0" sz="2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39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부록 1 · 데이터베이스 구조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53" name="Google Shape;65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0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부록 2 · 주요 SQL/DAX 정의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0"/>
          <p:cNvSpPr/>
          <p:nvPr/>
        </p:nvSpPr>
        <p:spPr>
          <a:xfrm>
            <a:off x="1600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인프라 격차지수 (DAX)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0"/>
          <p:cNvSpPr/>
          <p:nvPr/>
        </p:nvSpPr>
        <p:spPr>
          <a:xfrm>
            <a:off x="1600200" y="3761929"/>
            <a:ext cx="7299198" cy="12751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8824"/>
              </a:lnSpc>
              <a:spcBef>
                <a:spcPts val="0"/>
              </a:spcBef>
              <a:spcAft>
                <a:spcPts val="0"/>
              </a:spcAft>
              <a:buClr>
                <a:srgbClr val="006786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6786"/>
                </a:solidFill>
                <a:latin typeface="Courier New"/>
                <a:ea typeface="Courier New"/>
                <a:cs typeface="Courier New"/>
                <a:sym typeface="Courier New"/>
              </a:rPr>
              <a:t>RANKX(ALL(Dim_Region), [평균 고령화율]) − RANKX(ALL(Dim_Region), [평균 병상수] + [평균 요양기관수])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2" name="Google Shape;66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2F2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1"/>
          <p:cNvSpPr/>
          <p:nvPr/>
        </p:nvSpPr>
        <p:spPr>
          <a:xfrm>
            <a:off x="1580257" y="903089"/>
            <a:ext cx="16618297" cy="4210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780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4500"/>
              <a:buFont typeface="Source Serif 4"/>
              <a:buNone/>
            </a:pPr>
            <a:r>
              <a:rPr b="1" i="0" lang="en-US" sz="45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부록 3 · 데이터 출처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1"/>
          <p:cNvSpPr/>
          <p:nvPr/>
        </p:nvSpPr>
        <p:spPr>
          <a:xfrm>
            <a:off x="1600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일본 · e-Stat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1"/>
          <p:cNvSpPr/>
          <p:nvPr/>
        </p:nvSpPr>
        <p:spPr>
          <a:xfrm>
            <a:off x="1600200" y="3761929"/>
            <a:ext cx="729919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총무성 통계국 공식 API. 인구추계 統計表010, 의료(병상수), 복지(개호노인복지시설 정원).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1"/>
          <p:cNvSpPr/>
          <p:nvPr/>
        </p:nvSpPr>
        <p:spPr>
          <a:xfrm>
            <a:off x="9601200" y="3247579"/>
            <a:ext cx="7795260" cy="26789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2286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700"/>
              <a:buFont typeface="Source Serif 4"/>
              <a:buNone/>
            </a:pPr>
            <a:r>
              <a:rPr b="1" i="0" lang="en-US" sz="270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한국 · KOSIS Open API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1"/>
          <p:cNvSpPr/>
          <p:nvPr/>
        </p:nvSpPr>
        <p:spPr>
          <a:xfrm>
            <a:off x="9601200" y="3761929"/>
            <a:ext cx="7299198" cy="743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1707"/>
              </a:lnSpc>
              <a:spcBef>
                <a:spcPts val="0"/>
              </a:spcBef>
              <a:spcAft>
                <a:spcPts val="0"/>
              </a:spcAft>
              <a:buClr>
                <a:srgbClr val="201E1D"/>
              </a:buClr>
              <a:buSzPts val="2250"/>
              <a:buFont typeface="Source Serif 4"/>
              <a:buNone/>
            </a:pPr>
            <a:r>
              <a:rPr b="0" i="0" lang="en-US" sz="2250" u="none" cap="none" strike="noStrike">
                <a:solidFill>
                  <a:srgbClr val="201E1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고령인구비율, 장기요양기관현황, 의료기관병상수(DT_1YL20971).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3" name="Google Shape;67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427648" y="9771906"/>
            <a:ext cx="260152" cy="153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