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</p:sldIdLst>
  <p:sldSz cy="10287000" cx="18288000"/>
  <p:notesSz cx="10287000" cy="18288000"/>
  <p:embeddedFontLst>
    <p:embeddedFont>
      <p:font typeface="Gothic A1"/>
      <p:regular r:id="rId44"/>
      <p:bold r:id="rId45"/>
    </p:embeddedFont>
    <p:embeddedFont>
      <p:font typeface="Roboto Mono"/>
      <p:regular r:id="rId46"/>
      <p:bold r:id="rId47"/>
      <p:italic r:id="rId48"/>
      <p:boldItalic r:id="rId49"/>
    </p:embeddedFont>
    <p:embeddedFont>
      <p:font typeface="IBM Plex Sans KR"/>
      <p:regular r:id="rId50"/>
      <p:bold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font" Target="fonts/GothicA1-regular.fntdata"/><Relationship Id="rId43" Type="http://schemas.openxmlformats.org/officeDocument/2006/relationships/slide" Target="slides/slide39.xml"/><Relationship Id="rId46" Type="http://schemas.openxmlformats.org/officeDocument/2006/relationships/font" Target="fonts/RobotoMono-regular.fntdata"/><Relationship Id="rId45" Type="http://schemas.openxmlformats.org/officeDocument/2006/relationships/font" Target="fonts/GothicA1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font" Target="fonts/RobotoMono-italic.fntdata"/><Relationship Id="rId47" Type="http://schemas.openxmlformats.org/officeDocument/2006/relationships/font" Target="fonts/RobotoMono-bold.fntdata"/><Relationship Id="rId49" Type="http://schemas.openxmlformats.org/officeDocument/2006/relationships/font" Target="fonts/RobotoMon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font" Target="fonts/IBMPlexSansKR-bold.fntdata"/><Relationship Id="rId50" Type="http://schemas.openxmlformats.org/officeDocument/2006/relationships/font" Target="fonts/IBMPlexSansKR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" name="Google Shape;5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5" name="Google Shape;225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5" name="Google Shape;295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8" name="Google Shape;318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" name="Google Shape;412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1" name="Google Shape;471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8" name="Google Shape;498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6" name="Google Shape;506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3" name="Google Shape;523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1143000" y="1143000"/>
            <a:ext cx="1236345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DATA ANALYTICS · 2026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1143000" y="1914525"/>
            <a:ext cx="11576685" cy="2086273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96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7200"/>
              <a:buFont typeface="Gothic A1"/>
              <a:buNone/>
            </a:pPr>
            <a:r>
              <a:rPr b="1" i="0" lang="en-US" sz="72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한·일 지역별 고령화와 의료·돌봄 인프라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43000" y="4381798"/>
            <a:ext cx="11576685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700"/>
              <a:buFont typeface="Roboto Mono"/>
              <a:buNone/>
            </a:pPr>
            <a:r>
              <a:rPr b="0" i="0" lang="en-US" sz="27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측정 방법이 결론을 바꾸는가 — 한국 17개 시·도와 일본 47개 도도부현의 지역 단위 비교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143000" y="7943850"/>
            <a:ext cx="1343215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000"/>
              <a:buFont typeface="Roboto Mono"/>
              <a:buNone/>
            </a:pPr>
            <a:r>
              <a:rPr b="0" i="0" lang="en-US" sz="30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발표자</a:t>
            </a:r>
            <a:r>
              <a:rPr lang="en-US" sz="3000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 :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4497050" y="0"/>
            <a:ext cx="3790950" cy="10287000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554325" y="8462963"/>
            <a:ext cx="1676400" cy="91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8096250" cy="10287000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1143000" y="8023920"/>
            <a:ext cx="2323386" cy="11581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8400"/>
              <a:buFont typeface="Gothic A1"/>
              <a:buNone/>
            </a:pPr>
            <a:r>
              <a:rPr b="1" i="0" lang="en-US" sz="84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목차</a:t>
            </a:r>
            <a:endParaRPr b="0" i="0" sz="8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9239250" y="2609850"/>
            <a:ext cx="53354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000"/>
              <a:buFont typeface="Roboto Mono"/>
              <a:buNone/>
            </a:pPr>
            <a:r>
              <a:rPr b="1" i="0" lang="en-US" sz="30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10039499" y="2628900"/>
            <a:ext cx="4470618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연구 배경과 연구 질문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9239250" y="3514725"/>
            <a:ext cx="53354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000"/>
              <a:buFont typeface="Roboto Mono"/>
              <a:buNone/>
            </a:pPr>
            <a:r>
              <a:rPr b="1" i="0" lang="en-US" sz="30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0039499" y="3533775"/>
            <a:ext cx="332709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데이터와 방법론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9239250" y="4419600"/>
            <a:ext cx="53354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000"/>
              <a:buFont typeface="Roboto Mono"/>
              <a:buNone/>
            </a:pPr>
            <a:r>
              <a:rPr b="1" i="0" lang="en-US" sz="30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0039499" y="4438650"/>
            <a:ext cx="6157496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결과 — 최종 선정 시각화 10장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9239250" y="5324475"/>
            <a:ext cx="53354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000"/>
              <a:buFont typeface="Roboto Mono"/>
              <a:buNone/>
            </a:pPr>
            <a:r>
              <a:rPr b="1" i="0" lang="en-US" sz="30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10039499" y="5343525"/>
            <a:ext cx="6189092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논의 — 세 연구 질문에 대한 답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9239250" y="6229350"/>
            <a:ext cx="53354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000"/>
              <a:buFont typeface="Roboto Mono"/>
              <a:buNone/>
            </a:pPr>
            <a:r>
              <a:rPr b="1" i="0" lang="en-US" sz="30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0039499" y="6248400"/>
            <a:ext cx="3439567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결론과 정책 제언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9239250" y="7134225"/>
            <a:ext cx="533549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000"/>
              <a:buFont typeface="Roboto Mono"/>
              <a:buNone/>
            </a:pPr>
            <a:r>
              <a:rPr b="1" i="0" lang="en-US" sz="30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06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0039499" y="7153275"/>
            <a:ext cx="355531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부록 — 백업 자료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3A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SECTION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1143000" y="6111478"/>
            <a:ext cx="17602200" cy="2506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600"/>
              <a:buFont typeface="Gothic A1"/>
              <a:buNone/>
            </a:pPr>
            <a:r>
              <a:rPr b="1" i="0" lang="en-US" sz="216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01</a:t>
            </a:r>
            <a:endParaRPr b="0" i="0" sz="2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143000" y="8770739"/>
            <a:ext cx="17602200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5400"/>
              <a:buFont typeface="Gothic A1"/>
              <a:buNone/>
            </a:pPr>
            <a:r>
              <a:rPr b="1" i="0" lang="en-US" sz="54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연구 배경과 연구 질문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6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01 · 연구 배경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1143000" y="1647825"/>
            <a:ext cx="15716250" cy="769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800"/>
              <a:buFont typeface="Gothic A1"/>
              <a:buNone/>
            </a:pPr>
            <a:r>
              <a:rPr b="1" i="0" lang="en-US" sz="48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일본은 고령화 수준이 높고, 한국은 속도가 빠르다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1143000" y="2988915"/>
            <a:ext cx="76962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1143000" y="3446115"/>
            <a:ext cx="84658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수준과 속도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143000" y="4236690"/>
            <a:ext cx="7927086" cy="982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일본은 이미 높은 고령화율에서 완만하게 증가하고, 한국은 상대적으로 낮은 고령화율에서 출발해 빠르게 격차를 좁히고 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143000" y="5448151"/>
            <a:ext cx="7927086" cy="982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2015~2023년 평균 고령화율은 한국 13.8% → 19.6%, 일본 28.3% → 31.6%로 변화했다.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9448800" y="2988915"/>
            <a:ext cx="76962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6"/>
          <p:cNvSpPr/>
          <p:nvPr/>
        </p:nvSpPr>
        <p:spPr>
          <a:xfrm>
            <a:off x="9448800" y="3446115"/>
            <a:ext cx="84658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국가 평균의 한계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9448800" y="4236690"/>
            <a:ext cx="7927086" cy="982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의료·돌봄 인프라 확충 예산은 국가 단위가 아니라 지역 단위에서 배정된다.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9448800" y="5448151"/>
            <a:ext cx="7927086" cy="982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한국 17개 시·도와 일본 47개 도도부현, 총 64개 지역으로 내려가야 국가 평균 뒤에 숨어 있는 편차가 드러난다.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01 · 연구 배경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7"/>
          <p:cNvSpPr/>
          <p:nvPr/>
        </p:nvSpPr>
        <p:spPr>
          <a:xfrm>
            <a:off x="1143000" y="1647825"/>
            <a:ext cx="17602200" cy="769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800"/>
              <a:buFont typeface="Gothic A1"/>
              <a:buNone/>
            </a:pPr>
            <a:r>
              <a:rPr b="1" i="0" lang="en-US" sz="48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같은 데이터에서 결론이 세 차례 뒤집혔다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7"/>
          <p:cNvSpPr/>
          <p:nvPr/>
        </p:nvSpPr>
        <p:spPr>
          <a:xfrm>
            <a:off x="1600200" y="3369915"/>
            <a:ext cx="458210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사례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1600200" y="3912840"/>
            <a:ext cx="458210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600"/>
              <a:buFont typeface="Gothic A1"/>
              <a:buNone/>
            </a:pPr>
            <a:r>
              <a:rPr b="1" i="0" lang="en-US" sz="36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비교 기간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7"/>
          <p:cNvSpPr/>
          <p:nvPr/>
        </p:nvSpPr>
        <p:spPr>
          <a:xfrm>
            <a:off x="1600200" y="4674840"/>
            <a:ext cx="429051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마지막 관측 연도를 한 해 줄이자 “한국이 일본의 약 2배”가 “약 1.8배”로 바뀌었다.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7"/>
          <p:cNvSpPr/>
          <p:nvPr/>
        </p:nvSpPr>
        <p:spPr>
          <a:xfrm>
            <a:off x="7061150" y="3369915"/>
            <a:ext cx="458226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사례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7"/>
          <p:cNvSpPr/>
          <p:nvPr/>
        </p:nvSpPr>
        <p:spPr>
          <a:xfrm>
            <a:off x="7061150" y="3912840"/>
            <a:ext cx="458226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600"/>
              <a:buFont typeface="Gothic A1"/>
              <a:buNone/>
            </a:pPr>
            <a:r>
              <a:rPr b="1" i="0" lang="en-US" sz="36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비교 단위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7"/>
          <p:cNvSpPr/>
          <p:nvPr/>
        </p:nvSpPr>
        <p:spPr>
          <a:xfrm>
            <a:off x="7061150" y="4674840"/>
            <a:ext cx="429067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64개 지역을 한 줄로 세우면 취약지역 상위 15곳이 전부 일본으로 채워졌다.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12065050" y="2912715"/>
            <a:ext cx="5079950" cy="5726460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7"/>
          <p:cNvSpPr/>
          <p:nvPr/>
        </p:nvSpPr>
        <p:spPr>
          <a:xfrm>
            <a:off x="12522250" y="3369915"/>
            <a:ext cx="458210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사례 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7"/>
          <p:cNvSpPr/>
          <p:nvPr/>
        </p:nvSpPr>
        <p:spPr>
          <a:xfrm>
            <a:off x="12522250" y="3912840"/>
            <a:ext cx="458210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600"/>
              <a:buFont typeface="Gothic A1"/>
              <a:buNone/>
            </a:pPr>
            <a:r>
              <a:rPr b="1" i="0" lang="en-US" sz="36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지표 정의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12522250" y="4674840"/>
            <a:ext cx="429051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국가별로는 양의 상관, 두 나라를 합치면 음의 상관 — 부호 자체가 뒤집혔다.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1143000" y="9096375"/>
            <a:ext cx="176022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세 사례는 우연한 계산 오류가 아니라, 국가 간·지역 간 비교 연구에서 구조적으로 발생하는 측정 방법의 문제다.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3A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8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연구 질문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8"/>
          <p:cNvSpPr/>
          <p:nvPr/>
        </p:nvSpPr>
        <p:spPr>
          <a:xfrm>
            <a:off x="1143000" y="1724025"/>
            <a:ext cx="15304770" cy="15314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5946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200"/>
              <a:buFont typeface="Roboto Mono"/>
              <a:buNone/>
            </a:pPr>
            <a:r>
              <a:rPr b="0" i="0" lang="en-US" sz="42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“동일한 데이터라도 비교 단위·지표 정의·비교 기간을 어떻게 설정하느냐에 따라 정책적으로 상반된 결론에 도달할 수 있는가?”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8"/>
          <p:cNvSpPr/>
          <p:nvPr/>
        </p:nvSpPr>
        <p:spPr>
          <a:xfrm>
            <a:off x="1143000" y="7246888"/>
            <a:ext cx="16002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8"/>
          <p:cNvSpPr/>
          <p:nvPr/>
        </p:nvSpPr>
        <p:spPr>
          <a:xfrm>
            <a:off x="1143000" y="7742188"/>
            <a:ext cx="17602200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RQ1 · 비교 기간 — 고령화 “속도” 비교는 분석 기간 설정에 얼마나 민감한가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8"/>
          <p:cNvSpPr/>
          <p:nvPr/>
        </p:nvSpPr>
        <p:spPr>
          <a:xfrm>
            <a:off x="1143000" y="8412659"/>
            <a:ext cx="17602200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RQ2 · 비교 단위 — 취약 지역 식별에서 64개 전체 비교와 국가 내부 비교 중 어느 쪽이 타당한가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"/>
          <p:cNvSpPr/>
          <p:nvPr/>
        </p:nvSpPr>
        <p:spPr>
          <a:xfrm>
            <a:off x="1143000" y="9083129"/>
            <a:ext cx="17602200" cy="47997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667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RQ3 · 지표 정의 — 국가 간 통계 정의가 다를 때 상관관계 같은 기초 통계량도 신뢰할 수 있는가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3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9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SECTION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1143000" y="6111478"/>
            <a:ext cx="17602200" cy="2506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600"/>
              <a:buFont typeface="Gothic A1"/>
              <a:buNone/>
            </a:pPr>
            <a:r>
              <a:rPr b="1" i="0" lang="en-US" sz="216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02</a:t>
            </a:r>
            <a:endParaRPr b="0" i="0" sz="2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9"/>
          <p:cNvSpPr/>
          <p:nvPr/>
        </p:nvSpPr>
        <p:spPr>
          <a:xfrm>
            <a:off x="1143000" y="8770739"/>
            <a:ext cx="17602200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5400"/>
              <a:buFont typeface="Gothic A1"/>
              <a:buNone/>
            </a:pPr>
            <a:r>
              <a:rPr b="1" i="0" lang="en-US" sz="54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데이터와 방법론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02 · 데이터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0"/>
          <p:cNvSpPr/>
          <p:nvPr/>
        </p:nvSpPr>
        <p:spPr>
          <a:xfrm>
            <a:off x="1143000" y="1647825"/>
            <a:ext cx="17602200" cy="769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800"/>
              <a:buFont typeface="Gothic A1"/>
              <a:buNone/>
            </a:pPr>
            <a:r>
              <a:rPr b="1" i="0" lang="en-US" sz="48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64개 지역·9개년·4개 지표를 공식 API에서 수집했다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0"/>
          <p:cNvSpPr/>
          <p:nvPr/>
        </p:nvSpPr>
        <p:spPr>
          <a:xfrm>
            <a:off x="1143000" y="4204692"/>
            <a:ext cx="16002000" cy="381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"/>
          <p:cNvSpPr/>
          <p:nvPr/>
        </p:nvSpPr>
        <p:spPr>
          <a:xfrm>
            <a:off x="1600200" y="3349079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출처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0"/>
          <p:cNvSpPr/>
          <p:nvPr/>
        </p:nvSpPr>
        <p:spPr>
          <a:xfrm>
            <a:off x="4457700" y="3345359"/>
            <a:ext cx="1354455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일본 e-Stat(총무성 통계국 공식 API) · 한국 KOSIS Open API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0"/>
          <p:cNvSpPr/>
          <p:nvPr/>
        </p:nvSpPr>
        <p:spPr>
          <a:xfrm>
            <a:off x="1143000" y="5534769"/>
            <a:ext cx="16002000" cy="381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"/>
          <p:cNvSpPr/>
          <p:nvPr/>
        </p:nvSpPr>
        <p:spPr>
          <a:xfrm>
            <a:off x="1600200" y="4679156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기간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0"/>
          <p:cNvSpPr/>
          <p:nvPr/>
        </p:nvSpPr>
        <p:spPr>
          <a:xfrm>
            <a:off x="4457700" y="4675436"/>
            <a:ext cx="1354455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2015~2023년 (9개년)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0"/>
          <p:cNvSpPr/>
          <p:nvPr/>
        </p:nvSpPr>
        <p:spPr>
          <a:xfrm>
            <a:off x="1143000" y="6864846"/>
            <a:ext cx="16002000" cy="381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"/>
          <p:cNvSpPr/>
          <p:nvPr/>
        </p:nvSpPr>
        <p:spPr>
          <a:xfrm>
            <a:off x="1600200" y="6009233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대상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0"/>
          <p:cNvSpPr/>
          <p:nvPr/>
        </p:nvSpPr>
        <p:spPr>
          <a:xfrm>
            <a:off x="4457700" y="6005513"/>
            <a:ext cx="1354455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한국 17개 시·도 + 일본 47개 도도부현 = 64개 지역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0"/>
          <p:cNvSpPr/>
          <p:nvPr/>
        </p:nvSpPr>
        <p:spPr>
          <a:xfrm>
            <a:off x="1143000" y="8194923"/>
            <a:ext cx="16002000" cy="381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0"/>
          <p:cNvSpPr/>
          <p:nvPr/>
        </p:nvSpPr>
        <p:spPr>
          <a:xfrm>
            <a:off x="1600200" y="7339310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지표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0"/>
          <p:cNvSpPr/>
          <p:nvPr/>
        </p:nvSpPr>
        <p:spPr>
          <a:xfrm>
            <a:off x="4457700" y="7335589"/>
            <a:ext cx="1354455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고령화율 · 인구증감률 · 인구 1만명당 병상수 · 인구 1만명당 장기요양기관수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0"/>
          <p:cNvSpPr/>
          <p:nvPr/>
        </p:nvSpPr>
        <p:spPr>
          <a:xfrm>
            <a:off x="1143000" y="8233023"/>
            <a:ext cx="16002000" cy="1291977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0"/>
          <p:cNvSpPr/>
          <p:nvPr/>
        </p:nvSpPr>
        <p:spPr>
          <a:xfrm>
            <a:off x="1600200" y="8669387"/>
            <a:ext cx="22288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적재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0"/>
          <p:cNvSpPr/>
          <p:nvPr/>
        </p:nvSpPr>
        <p:spPr>
          <a:xfrm>
            <a:off x="4457700" y="8665666"/>
            <a:ext cx="13544550" cy="4647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SQL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1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02 · 방법론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1"/>
          <p:cNvSpPr/>
          <p:nvPr/>
        </p:nvSpPr>
        <p:spPr>
          <a:xfrm>
            <a:off x="1143000" y="1647825"/>
            <a:ext cx="16344900" cy="769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800"/>
              <a:buFont typeface="Gothic A1"/>
              <a:buNone/>
            </a:pPr>
            <a:r>
              <a:rPr b="1" i="0" lang="en-US" sz="48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일본 인프라 원자료가 2023년까지여서 기간을 절단했다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1"/>
          <p:cNvSpPr/>
          <p:nvPr/>
        </p:nvSpPr>
        <p:spPr>
          <a:xfrm>
            <a:off x="1143000" y="2988915"/>
            <a:ext cx="76962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1"/>
          <p:cNvSpPr/>
          <p:nvPr/>
        </p:nvSpPr>
        <p:spPr>
          <a:xfrm>
            <a:off x="1143000" y="3446115"/>
            <a:ext cx="84658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결측 회피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1"/>
          <p:cNvSpPr/>
          <p:nvPr/>
        </p:nvSpPr>
        <p:spPr>
          <a:xfrm>
            <a:off x="1143000" y="4236690"/>
            <a:ext cx="7927086" cy="14552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일본 의료·복지 원자료(병상수·장기요양기관수)는 2023년까지만 공개된다. 이보다 늦은 연도를 포함하면 일본 인프라 지표에 결측치가 생긴다.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1"/>
          <p:cNvSpPr/>
          <p:nvPr/>
        </p:nvSpPr>
        <p:spPr>
          <a:xfrm>
            <a:off x="9448800" y="2988915"/>
            <a:ext cx="76962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1"/>
          <p:cNvSpPr/>
          <p:nvPr/>
        </p:nvSpPr>
        <p:spPr>
          <a:xfrm>
            <a:off x="9448800" y="3446115"/>
            <a:ext cx="84658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스키마에 남긴 기록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1"/>
          <p:cNvSpPr/>
          <p:nvPr/>
        </p:nvSpPr>
        <p:spPr>
          <a:xfrm>
            <a:off x="9448800" y="4236690"/>
            <a:ext cx="7927086" cy="982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커버리지 차이를 숨기지 않기 위해 팩트 테이블을 두 개의 뷰로 분리했다.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1"/>
          <p:cNvSpPr/>
          <p:nvPr/>
        </p:nvSpPr>
        <p:spPr>
          <a:xfrm>
            <a:off x="9448800" y="5448151"/>
            <a:ext cx="7696200" cy="1428750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1"/>
          <p:cNvSpPr/>
          <p:nvPr/>
        </p:nvSpPr>
        <p:spPr>
          <a:xfrm>
            <a:off x="9753600" y="5714851"/>
            <a:ext cx="77952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Fact_Population — 항상 완전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1"/>
          <p:cNvSpPr/>
          <p:nvPr/>
        </p:nvSpPr>
        <p:spPr>
          <a:xfrm>
            <a:off x="9753600" y="6229201"/>
            <a:ext cx="77952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Fact_Infra — 결측 구간 제외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1"/>
          <p:cNvSpPr/>
          <p:nvPr/>
        </p:nvSpPr>
        <p:spPr>
          <a:xfrm>
            <a:off x="9448800" y="7143601"/>
            <a:ext cx="846582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물리적으로는 하나의 원본 테이블 위에 두 뷰가 얹혀 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02 · 방법론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2"/>
          <p:cNvSpPr/>
          <p:nvPr/>
        </p:nvSpPr>
        <p:spPr>
          <a:xfrm>
            <a:off x="1143000" y="1647825"/>
            <a:ext cx="17602200" cy="769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800"/>
              <a:buFont typeface="Gothic A1"/>
              <a:buNone/>
            </a:pPr>
            <a:r>
              <a:rPr b="1" i="0" lang="en-US" sz="48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순위와 격차지수는 국가 내부에서 정의한다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2"/>
          <p:cNvSpPr/>
          <p:nvPr/>
        </p:nvSpPr>
        <p:spPr>
          <a:xfrm>
            <a:off x="1143000" y="2988915"/>
            <a:ext cx="4191000" cy="540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국가 내 순위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2"/>
          <p:cNvSpPr/>
          <p:nvPr/>
        </p:nvSpPr>
        <p:spPr>
          <a:xfrm>
            <a:off x="5486400" y="2988915"/>
            <a:ext cx="11658600" cy="828675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2"/>
          <p:cNvSpPr/>
          <p:nvPr/>
        </p:nvSpPr>
        <p:spPr>
          <a:xfrm>
            <a:off x="5791200" y="3217515"/>
            <a:ext cx="11398758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RANK() OVER (PARTITION BY country ORDER BY ...)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2"/>
          <p:cNvSpPr/>
          <p:nvPr/>
        </p:nvSpPr>
        <p:spPr>
          <a:xfrm>
            <a:off x="5486400" y="4027140"/>
            <a:ext cx="1282446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전체 64개 지역이 아니라, 같은 국가에 속한 지역들 사이에서만 순위를 매긴다.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2"/>
          <p:cNvSpPr/>
          <p:nvPr/>
        </p:nvSpPr>
        <p:spPr>
          <a:xfrm>
            <a:off x="1143000" y="4941540"/>
            <a:ext cx="16002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2"/>
          <p:cNvSpPr/>
          <p:nvPr/>
        </p:nvSpPr>
        <p:spPr>
          <a:xfrm>
            <a:off x="1143000" y="5474940"/>
            <a:ext cx="4191000" cy="540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인프라 격차지수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2"/>
          <p:cNvSpPr/>
          <p:nvPr/>
        </p:nvSpPr>
        <p:spPr>
          <a:xfrm>
            <a:off x="5486400" y="5474940"/>
            <a:ext cx="11658600" cy="838200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2"/>
          <p:cNvSpPr/>
          <p:nvPr/>
        </p:nvSpPr>
        <p:spPr>
          <a:xfrm>
            <a:off x="5791200" y="5703540"/>
            <a:ext cx="1139875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(국가 내 고령화율 순위) − (국가 내 인프라밀도 순위)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2"/>
          <p:cNvSpPr/>
          <p:nvPr/>
        </p:nvSpPr>
        <p:spPr>
          <a:xfrm>
            <a:off x="5486400" y="6522690"/>
            <a:ext cx="1282446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값이 클수록 고령화는 심한데 인프라는 상대적으로 부족한 지역이라는 뜻이다.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3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02 · 방법론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3"/>
          <p:cNvSpPr/>
          <p:nvPr/>
        </p:nvSpPr>
        <p:spPr>
          <a:xfrm>
            <a:off x="1143000" y="1647825"/>
            <a:ext cx="17602200" cy="769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800"/>
              <a:buFont typeface="Gothic A1"/>
              <a:buNone/>
            </a:pPr>
            <a:r>
              <a:rPr b="1" i="0" lang="en-US" sz="48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세 가지 한계를 결과보다 먼저 밝힌다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3"/>
          <p:cNvSpPr/>
          <p:nvPr/>
        </p:nvSpPr>
        <p:spPr>
          <a:xfrm>
            <a:off x="1600200" y="3369915"/>
            <a:ext cx="458210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한계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3"/>
          <p:cNvSpPr/>
          <p:nvPr/>
        </p:nvSpPr>
        <p:spPr>
          <a:xfrm>
            <a:off x="1600200" y="3912840"/>
            <a:ext cx="458210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기간 절단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3"/>
          <p:cNvSpPr/>
          <p:nvPr/>
        </p:nvSpPr>
        <p:spPr>
          <a:xfrm>
            <a:off x="1600200" y="4627215"/>
            <a:ext cx="429051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일본 인프라 원자료가 2023년까지만 존재해 전체 분석 기간을 절단했다.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7061150" y="3369915"/>
            <a:ext cx="458226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한계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3"/>
          <p:cNvSpPr/>
          <p:nvPr/>
        </p:nvSpPr>
        <p:spPr>
          <a:xfrm>
            <a:off x="7061150" y="3912840"/>
            <a:ext cx="4582269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인과관계 아님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3"/>
          <p:cNvSpPr/>
          <p:nvPr/>
        </p:nvSpPr>
        <p:spPr>
          <a:xfrm>
            <a:off x="7061150" y="4627215"/>
            <a:ext cx="429067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상관계수는 인과를 뜻하지 않는다. 4.3절도 “정의가 통계량을 어떻게 바꾸는가”로 한정해 읽어야 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3"/>
          <p:cNvSpPr/>
          <p:nvPr/>
        </p:nvSpPr>
        <p:spPr>
          <a:xfrm>
            <a:off x="12522250" y="3369915"/>
            <a:ext cx="458210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한계 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3"/>
          <p:cNvSpPr/>
          <p:nvPr/>
        </p:nvSpPr>
        <p:spPr>
          <a:xfrm>
            <a:off x="12522250" y="3912840"/>
            <a:ext cx="4582105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일반화 범위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3"/>
          <p:cNvSpPr/>
          <p:nvPr/>
        </p:nvSpPr>
        <p:spPr>
          <a:xfrm>
            <a:off x="12522250" y="4627215"/>
            <a:ext cx="4290517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표본은 64개 “지역”이지 64개 “국가”가 아니다. 국가 전체에 대한 진술로 확대할 수 없다.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3A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4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SECTION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4"/>
          <p:cNvSpPr/>
          <p:nvPr/>
        </p:nvSpPr>
        <p:spPr>
          <a:xfrm>
            <a:off x="1143000" y="6111478"/>
            <a:ext cx="17602200" cy="2506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600"/>
              <a:buFont typeface="Gothic A1"/>
              <a:buNone/>
            </a:pPr>
            <a:r>
              <a:rPr b="1" i="0" lang="en-US" sz="216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03</a:t>
            </a:r>
            <a:endParaRPr b="0" i="0" sz="2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1143000" y="8770739"/>
            <a:ext cx="17602200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5400"/>
              <a:buFont typeface="Gothic A1"/>
              <a:buNone/>
            </a:pPr>
            <a:r>
              <a:rPr b="1" i="0" lang="en-US" sz="54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결과 — 최종 선정 시각화 10장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5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그림 1 · 국가별 평균 비교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고령화율은 일본이 높지만 병상수는 두 나라가 거의 같다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87" name="Google Shape;187;p15"/>
          <p:cNvPicPr preferRelativeResize="0"/>
          <p:nvPr/>
        </p:nvPicPr>
        <p:blipFill rotWithShape="1">
          <a:blip r:embed="rId3">
            <a:alphaModFix/>
          </a:blip>
          <a:srcRect b="0" l="-1" r="-1" t="0"/>
          <a:stretch/>
        </p:blipFill>
        <p:spPr>
          <a:xfrm>
            <a:off x="1526828" y="3095625"/>
            <a:ext cx="9366945" cy="6086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5"/>
          <p:cNvSpPr/>
          <p:nvPr/>
        </p:nvSpPr>
        <p:spPr>
          <a:xfrm>
            <a:off x="11811000" y="2752725"/>
            <a:ext cx="5334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11811000" y="3171825"/>
            <a:ext cx="549402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평균 고령화율은 일본 31.6%, 한국 19.6%. 인구 1만명당 병상수는 일본 150, 한국 149로 거의 같다.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5"/>
          <p:cNvSpPr/>
          <p:nvPr/>
        </p:nvSpPr>
        <p:spPr>
          <a:xfrm>
            <a:off x="11811000" y="4724400"/>
            <a:ext cx="549402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반면 인구 1만명당 요양기관수는 한국 4.7, 일본 0.8로 약 6배 차이가 난다 — 정의 범위의 차이이며 4장에서 다룬다.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6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그림 2 · 국가별 의료·돌봄 인프라 구성비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구성비로 보면 한국은 돌봄, 일본은 의료에 무게가 실린다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8" name="Google Shape;198;p16"/>
          <p:cNvPicPr preferRelativeResize="0"/>
          <p:nvPr/>
        </p:nvPicPr>
        <p:blipFill rotWithShape="1">
          <a:blip r:embed="rId3">
            <a:alphaModFix/>
          </a:blip>
          <a:srcRect b="0" l="-1" r="-1" t="0"/>
          <a:stretch/>
        </p:blipFill>
        <p:spPr>
          <a:xfrm>
            <a:off x="1409700" y="3260229"/>
            <a:ext cx="10363200" cy="575726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6"/>
          <p:cNvSpPr/>
          <p:nvPr/>
        </p:nvSpPr>
        <p:spPr>
          <a:xfrm>
            <a:off x="12573000" y="2752725"/>
            <a:ext cx="4572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6"/>
          <p:cNvSpPr/>
          <p:nvPr/>
        </p:nvSpPr>
        <p:spPr>
          <a:xfrm>
            <a:off x="12573000" y="3171825"/>
            <a:ext cx="470916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국가별 의료·돌봄 인프라 구성비. 2023년 기준.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/>
          <p:nvPr/>
        </p:nvSpPr>
        <p:spPr>
          <a:xfrm>
            <a:off x="12573000" y="4295775"/>
            <a:ext cx="470916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두 지표의 정의 범위가 달라 국가 간 절대량 비교가 아니라 국가 내부 구성비만 참고한다.</a:t>
            </a:r>
            <a:endParaRPr b="0" i="0" sz="2250" u="none" cap="none" strike="noStrike">
              <a:solidFill>
                <a:srgbClr val="080C1A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t/>
            </a:r>
            <a:endParaRPr sz="2250">
              <a:solidFill>
                <a:srgbClr val="080C1A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lang="en-US" sz="2250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</a:t>
            </a:r>
            <a:r>
              <a:rPr lang="en-US" sz="4250">
                <a:solidFill>
                  <a:srgbClr val="FF0000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거 파워비아이로 다시 제작 국가이름빠져있음</a:t>
            </a:r>
            <a:endParaRPr sz="4250">
              <a:solidFill>
                <a:srgbClr val="FF0000"/>
              </a:solidFill>
              <a:latin typeface="IBM Plex Sans KR"/>
              <a:ea typeface="IBM Plex Sans KR"/>
              <a:cs typeface="IBM Plex Sans KR"/>
              <a:sym typeface="IBM Plex Sans K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7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그림 3 · 고령화율 추이, 2015~2023년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7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한국의 고령화 속도는 일본의 약 1.8배다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9" name="Google Shape;209;p17"/>
          <p:cNvPicPr preferRelativeResize="0"/>
          <p:nvPr/>
        </p:nvPicPr>
        <p:blipFill rotWithShape="1">
          <a:blip r:embed="rId3">
            <a:alphaModFix/>
          </a:blip>
          <a:srcRect b="0" l="-1" r="-1" t="0"/>
          <a:stretch/>
        </p:blipFill>
        <p:spPr>
          <a:xfrm>
            <a:off x="1485900" y="3482578"/>
            <a:ext cx="9448800" cy="5312569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7"/>
          <p:cNvSpPr/>
          <p:nvPr/>
        </p:nvSpPr>
        <p:spPr>
          <a:xfrm>
            <a:off x="11811000" y="2752725"/>
            <a:ext cx="5334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"/>
          <p:cNvSpPr/>
          <p:nvPr/>
        </p:nvSpPr>
        <p:spPr>
          <a:xfrm>
            <a:off x="11811000" y="3171825"/>
            <a:ext cx="549402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2015~2023년 한국 평균 고령화율은 13.8%에서 19.6%로, 일본은 28.3%에서 31.6%로 올랐다.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7"/>
          <p:cNvSpPr/>
          <p:nvPr/>
        </p:nvSpPr>
        <p:spPr>
          <a:xfrm>
            <a:off x="11811000" y="4724400"/>
            <a:ext cx="549402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연평균으로는 한국 +0.72%p, 일본 +0.41%p — 한국의 증가 속도가 약 1.8배다.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8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그림 4 · 인프라밀도 추이, 2015~2023년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8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인프라밀도는 고령화율보다 완만하게 변한다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20" name="Google Shape;2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" y="3682157"/>
            <a:ext cx="10210800" cy="4913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8"/>
          <p:cNvSpPr/>
          <p:nvPr/>
        </p:nvSpPr>
        <p:spPr>
          <a:xfrm>
            <a:off x="12573000" y="2752725"/>
            <a:ext cx="4572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12573000" y="3171825"/>
            <a:ext cx="470916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인구 1만명당 병상수·요양기관수 추이, 2015~2023년.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그림 5 · 지역 순위 흐름, 2015~2023년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지역 간 상대 순위는 9년 동안 대체로 유지된다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30" name="Google Shape;230;p19"/>
          <p:cNvPicPr preferRelativeResize="0"/>
          <p:nvPr/>
        </p:nvPicPr>
        <p:blipFill rotWithShape="1">
          <a:blip r:embed="rId3">
            <a:alphaModFix/>
          </a:blip>
          <a:srcRect b="0" l="-1" r="-1" t="0"/>
          <a:stretch/>
        </p:blipFill>
        <p:spPr>
          <a:xfrm>
            <a:off x="2449562" y="3019425"/>
            <a:ext cx="7902476" cy="6238726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19"/>
          <p:cNvSpPr/>
          <p:nvPr/>
        </p:nvSpPr>
        <p:spPr>
          <a:xfrm>
            <a:off x="12192000" y="2752725"/>
            <a:ext cx="4953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9"/>
          <p:cNvSpPr/>
          <p:nvPr/>
        </p:nvSpPr>
        <p:spPr>
          <a:xfrm>
            <a:off x="12192000" y="3171825"/>
            <a:ext cx="510159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순위의 흐름을 보는 그림이다. 상위권은 9년 동안 거의 고정되어 있고, 순위 교차는 중위권에서 일어난다.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12192000" y="4724400"/>
            <a:ext cx="510159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개별 지역을 읽기 위한 그림이 아니라, 지역 간 상대 위치가 얼마나 안정적인지 확인하기 위한 그림이다.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0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그림 6 · 64개 지역의 고령화율 순위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0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국가 평균 뒤에 큰 지역 편차가 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41" name="Google Shape;2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" y="3475583"/>
            <a:ext cx="10210800" cy="532655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0"/>
          <p:cNvSpPr/>
          <p:nvPr/>
        </p:nvSpPr>
        <p:spPr>
          <a:xfrm>
            <a:off x="12573000" y="2752725"/>
            <a:ext cx="4572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"/>
          <p:cNvSpPr/>
          <p:nvPr/>
        </p:nvSpPr>
        <p:spPr>
          <a:xfrm>
            <a:off x="12573000" y="3171825"/>
            <a:ext cx="470916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국가별로 구분한 64개 지역의 고령화율 순위.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그림 7 · 증가폭 상위 지역, 2015→2023년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1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증가폭 상위 5개 지역은 모두 국가 평균을 넘는다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51" name="Google Shape;251;p21"/>
          <p:cNvPicPr preferRelativeResize="0"/>
          <p:nvPr/>
        </p:nvPicPr>
        <p:blipFill rotWithShape="1">
          <a:blip r:embed="rId3">
            <a:alphaModFix/>
          </a:blip>
          <a:srcRect b="0" l="-1" r="-1" t="0"/>
          <a:stretch/>
        </p:blipFill>
        <p:spPr>
          <a:xfrm>
            <a:off x="1409700" y="3378250"/>
            <a:ext cx="9982200" cy="5521077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1"/>
          <p:cNvSpPr/>
          <p:nvPr/>
        </p:nvSpPr>
        <p:spPr>
          <a:xfrm>
            <a:off x="12192000" y="2752725"/>
            <a:ext cx="4953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21"/>
          <p:cNvSpPr/>
          <p:nvPr/>
        </p:nvSpPr>
        <p:spPr>
          <a:xfrm>
            <a:off x="12192000" y="3171825"/>
            <a:ext cx="510159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2015→2023년 증가폭이 가장 큰 한국 지역은 부산 +8.0%p, 강원 +7.1%p, 울산 +7.1%p, 경북 +7.0%p, 대구 +6.9%p 순이다.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그림 8 · 고령화율 × 인프라밀도, 2015·2018·2023년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2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두 나라 지역은 서로 다른 구간에 뭉쳐 분포한다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61" name="Google Shape;2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90763" y="3390900"/>
            <a:ext cx="13706475" cy="465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2"/>
          <p:cNvSpPr/>
          <p:nvPr/>
        </p:nvSpPr>
        <p:spPr>
          <a:xfrm>
            <a:off x="1143000" y="9067800"/>
            <a:ext cx="16344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집단 내부에서는 우상향하지만, 두 집단을 합치면 기울기의 방향이 달라진다.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3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그림 9 · 국가 내 순위 기준 격차지수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국가 내 순위로는 강원과 야마가타가 1위로 나타난다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70" name="Google Shape;270;p23"/>
          <p:cNvPicPr preferRelativeResize="0"/>
          <p:nvPr/>
        </p:nvPicPr>
        <p:blipFill rotWithShape="1">
          <a:blip r:embed="rId3">
            <a:alphaModFix/>
          </a:blip>
          <a:srcRect b="0" l="-1" r="-1" t="0"/>
          <a:stretch/>
        </p:blipFill>
        <p:spPr>
          <a:xfrm>
            <a:off x="2537520" y="3019425"/>
            <a:ext cx="7345561" cy="623872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3"/>
          <p:cNvSpPr/>
          <p:nvPr/>
        </p:nvSpPr>
        <p:spPr>
          <a:xfrm>
            <a:off x="11811000" y="2752725"/>
            <a:ext cx="5334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3"/>
          <p:cNvSpPr/>
          <p:nvPr/>
        </p:nvSpPr>
        <p:spPr>
          <a:xfrm>
            <a:off x="11811000" y="3171825"/>
            <a:ext cx="54940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국가 내 순위로 계산한 격차지수 기준, 한국에서는 강원특별자치도가 1위다. 고령화율 24.0%로 한국 내 4위이면서 인구 1만명당 병상수는 108.2 — 전국평균 151.8보다 29% 낮다.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3"/>
          <p:cNvSpPr/>
          <p:nvPr/>
        </p:nvSpPr>
        <p:spPr>
          <a:xfrm>
            <a:off x="11811000" y="5153025"/>
            <a:ext cx="549402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일본에서는 야마가타현이 자국 내 최우선 지역으로 나타났다.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4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그림 10 · 한국 TOP5 · 일본 TOP5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24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격차지수는 국가 안에서만 비교할 수 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81" name="Google Shape;28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85900" y="3100090"/>
            <a:ext cx="9448800" cy="607739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4"/>
          <p:cNvSpPr/>
          <p:nvPr/>
        </p:nvSpPr>
        <p:spPr>
          <a:xfrm>
            <a:off x="11811000" y="2752725"/>
            <a:ext cx="5334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24"/>
          <p:cNvSpPr/>
          <p:nvPr/>
        </p:nvSpPr>
        <p:spPr>
          <a:xfrm>
            <a:off x="11811000" y="3171825"/>
            <a:ext cx="549402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한국 TOP5와 일본 TOP5를 함께 놓았다. 각 나라 안에서 고령화 순위가 인프라 순위보다 앞서는 정도를 보여준다.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4"/>
          <p:cNvSpPr/>
          <p:nvPr/>
        </p:nvSpPr>
        <p:spPr>
          <a:xfrm>
            <a:off x="11811000" y="4724400"/>
            <a:ext cx="5494020" cy="1323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두 나라의 지수를 절대값으로 직접 비교하는 것은 준거집단 크기가 달라 성립하지 않는다 — 4장에서 다시 다룬다.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3A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SECTION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5"/>
          <p:cNvSpPr/>
          <p:nvPr/>
        </p:nvSpPr>
        <p:spPr>
          <a:xfrm>
            <a:off x="1143000" y="6111478"/>
            <a:ext cx="17602200" cy="2506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600"/>
              <a:buFont typeface="Gothic A1"/>
              <a:buNone/>
            </a:pPr>
            <a:r>
              <a:rPr b="1" i="0" lang="en-US" sz="216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04</a:t>
            </a:r>
            <a:endParaRPr b="0" i="0" sz="2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5"/>
          <p:cNvSpPr/>
          <p:nvPr/>
        </p:nvSpPr>
        <p:spPr>
          <a:xfrm>
            <a:off x="1143000" y="8770739"/>
            <a:ext cx="17602200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5400"/>
              <a:buFont typeface="Gothic A1"/>
              <a:buNone/>
            </a:pPr>
            <a:r>
              <a:rPr b="1" i="0" lang="en-US" sz="54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논의 — 세 연구 질문에 대한 답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RQ1 · 비교 기간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26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기간을 한 해 줄이자 배율이 1.95에서 1.76으로 바뀌었다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26"/>
          <p:cNvSpPr/>
          <p:nvPr/>
        </p:nvSpPr>
        <p:spPr>
          <a:xfrm>
            <a:off x="1143000" y="2790825"/>
            <a:ext cx="16002000" cy="1066800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6"/>
          <p:cNvSpPr/>
          <p:nvPr/>
        </p:nvSpPr>
        <p:spPr>
          <a:xfrm>
            <a:off x="1143000" y="3781425"/>
            <a:ext cx="16002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6"/>
          <p:cNvSpPr/>
          <p:nvPr/>
        </p:nvSpPr>
        <p:spPr>
          <a:xfrm>
            <a:off x="1524000" y="3095625"/>
            <a:ext cx="433959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비교 구간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26"/>
          <p:cNvSpPr/>
          <p:nvPr/>
        </p:nvSpPr>
        <p:spPr>
          <a:xfrm>
            <a:off x="6477000" y="3095625"/>
            <a:ext cx="365283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한국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26"/>
          <p:cNvSpPr/>
          <p:nvPr/>
        </p:nvSpPr>
        <p:spPr>
          <a:xfrm>
            <a:off x="10763250" y="3095625"/>
            <a:ext cx="3652838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일본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15049500" y="3095625"/>
            <a:ext cx="179070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배율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1143000" y="5076825"/>
            <a:ext cx="16002000" cy="381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1524000" y="4238625"/>
            <a:ext cx="433959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2015~2024 (최초 분석)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6"/>
          <p:cNvSpPr/>
          <p:nvPr/>
        </p:nvSpPr>
        <p:spPr>
          <a:xfrm>
            <a:off x="6477000" y="4238625"/>
            <a:ext cx="36528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+6.9%p · 연 +0.76%p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/>
          <p:nvPr/>
        </p:nvSpPr>
        <p:spPr>
          <a:xfrm>
            <a:off x="10763250" y="4238625"/>
            <a:ext cx="36528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+3.5%p · 연 +0.39%p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6"/>
          <p:cNvSpPr/>
          <p:nvPr/>
        </p:nvSpPr>
        <p:spPr>
          <a:xfrm>
            <a:off x="15049500" y="4238625"/>
            <a:ext cx="1790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≈ 1.95배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6"/>
          <p:cNvSpPr/>
          <p:nvPr/>
        </p:nvSpPr>
        <p:spPr>
          <a:xfrm>
            <a:off x="1524000" y="5495925"/>
            <a:ext cx="433959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2015~2023 (최종)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26"/>
          <p:cNvSpPr/>
          <p:nvPr/>
        </p:nvSpPr>
        <p:spPr>
          <a:xfrm>
            <a:off x="6477000" y="5495925"/>
            <a:ext cx="36528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+5.8%p · 연 +0.72%p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26"/>
          <p:cNvSpPr/>
          <p:nvPr/>
        </p:nvSpPr>
        <p:spPr>
          <a:xfrm>
            <a:off x="10763250" y="5495925"/>
            <a:ext cx="365283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+3.3%p · 연 +0.41%p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26"/>
          <p:cNvSpPr/>
          <p:nvPr/>
        </p:nvSpPr>
        <p:spPr>
          <a:xfrm>
            <a:off x="15049500" y="5495925"/>
            <a:ext cx="17907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≈ 1.76배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26"/>
          <p:cNvSpPr/>
          <p:nvPr/>
        </p:nvSpPr>
        <p:spPr>
          <a:xfrm>
            <a:off x="1143000" y="6753225"/>
            <a:ext cx="157162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같은 데이터, 같은 계산식. 마지막 관측 연도 하나를 줄인 것이 “약 2배”와 “약 1.8배”의 차이를 만들었다.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RQ1 · 비교 기간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7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비율은 원본 지표보다 구간 설정에 민감하다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7"/>
          <p:cNvSpPr/>
          <p:nvPr/>
        </p:nvSpPr>
        <p:spPr>
          <a:xfrm>
            <a:off x="1143000" y="2905125"/>
            <a:ext cx="6477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7"/>
          <p:cNvSpPr/>
          <p:nvPr/>
        </p:nvSpPr>
        <p:spPr>
          <a:xfrm>
            <a:off x="2057400" y="2905125"/>
            <a:ext cx="13973383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550"/>
              <a:buFont typeface="IBM Plex Sans KR"/>
              <a:buNone/>
            </a:pPr>
            <a:r>
              <a:rPr b="0" i="0" lang="en-US" sz="25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연평균 증가폭 자체는 한국 0.76 → 0.72%p, 일본 0.39 → 0.41%p로 0.02~0.04%p만 움직였다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7"/>
          <p:cNvSpPr/>
          <p:nvPr/>
        </p:nvSpPr>
        <p:spPr>
          <a:xfrm>
            <a:off x="1143000" y="3771900"/>
            <a:ext cx="6477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7"/>
          <p:cNvSpPr/>
          <p:nvPr/>
        </p:nvSpPr>
        <p:spPr>
          <a:xfrm>
            <a:off x="2057400" y="3771900"/>
            <a:ext cx="141497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550"/>
              <a:buFont typeface="IBM Plex Sans KR"/>
              <a:buNone/>
            </a:pPr>
            <a:r>
              <a:rPr b="0" i="0" lang="en-US" sz="25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그런데 두 값의 비율은 1.95 → 1.76으로 0.2포인트 가까이 이동했다 — 나눗셈이 오차를 증폭시킨다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7"/>
          <p:cNvSpPr/>
          <p:nvPr/>
        </p:nvSpPr>
        <p:spPr>
          <a:xfrm>
            <a:off x="1143000" y="4638675"/>
            <a:ext cx="6477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7"/>
          <p:cNvSpPr/>
          <p:nvPr/>
        </p:nvSpPr>
        <p:spPr>
          <a:xfrm>
            <a:off x="2057400" y="4638675"/>
            <a:ext cx="1048192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550"/>
              <a:buFont typeface="IBM Plex Sans KR"/>
              <a:buNone/>
            </a:pPr>
            <a:r>
              <a:rPr b="0" i="0" lang="en-US" sz="25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기간에 정규화된 지표(%p/년)가 단일 시점 비교보다 견고한 비교 기준이다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7"/>
          <p:cNvSpPr/>
          <p:nvPr/>
        </p:nvSpPr>
        <p:spPr>
          <a:xfrm>
            <a:off x="1143000" y="5505450"/>
            <a:ext cx="6477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7"/>
          <p:cNvSpPr/>
          <p:nvPr/>
        </p:nvSpPr>
        <p:spPr>
          <a:xfrm>
            <a:off x="2057400" y="5505450"/>
            <a:ext cx="13252400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550"/>
              <a:buFont typeface="IBM Plex Sans KR"/>
              <a:buNone/>
            </a:pPr>
            <a:r>
              <a:rPr b="0" i="0" lang="en-US" sz="25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“몇 배 빠르다” 같은 2차 지표를 보고할 때는 구간 설정에 더 민감하다는 점을 함께 밝혀야 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8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RQ2 · 비교 단위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8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전역 순위는 취약지역을 전부 일본으로 만든다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8"/>
          <p:cNvSpPr/>
          <p:nvPr/>
        </p:nvSpPr>
        <p:spPr>
          <a:xfrm>
            <a:off x="1600200" y="3248025"/>
            <a:ext cx="758571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전역 순위 — 64개 지역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8"/>
          <p:cNvSpPr/>
          <p:nvPr/>
        </p:nvSpPr>
        <p:spPr>
          <a:xfrm>
            <a:off x="1600200" y="4000500"/>
            <a:ext cx="7102983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격차지수를 64개 지역 전체에서 한 줄로 계산하면 상위 15개 지역이 전부 일본으로 채워진다.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8"/>
          <p:cNvSpPr/>
          <p:nvPr/>
        </p:nvSpPr>
        <p:spPr>
          <a:xfrm>
            <a:off x="1600200" y="5086350"/>
            <a:ext cx="7102983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일본의 고령화율이 전반적으로 높아서 생기는 구조적 쏠림이며, “그 지역만” 인프라가 부족하다는 뜻이 아니다.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28"/>
          <p:cNvSpPr/>
          <p:nvPr/>
        </p:nvSpPr>
        <p:spPr>
          <a:xfrm>
            <a:off x="9334500" y="2790825"/>
            <a:ext cx="7810500" cy="5400675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8"/>
          <p:cNvSpPr/>
          <p:nvPr/>
        </p:nvSpPr>
        <p:spPr>
          <a:xfrm>
            <a:off x="9791700" y="3248025"/>
            <a:ext cx="758571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국가 내 순위 — 17개 / 47개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8"/>
          <p:cNvSpPr/>
          <p:nvPr/>
        </p:nvSpPr>
        <p:spPr>
          <a:xfrm>
            <a:off x="9791700" y="4000500"/>
            <a:ext cx="7102983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같은 지수를 국가 내부에서만 계산하면 한국 강원특별자치도, 일본 야마가타현이 각각 자국 내 최우선 지역으로 드러난다.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8"/>
          <p:cNvSpPr/>
          <p:nvPr/>
        </p:nvSpPr>
        <p:spPr>
          <a:xfrm>
            <a:off x="1143000" y="8610600"/>
            <a:ext cx="15304770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RANK는 준거집단의 크기와 구성에 의존하는 통계량이다. “취약 지역”은 무엇과 비교하느냐에 따라 달라지는 상대적 개념이다.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RQ2 · 비교 단위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9"/>
          <p:cNvSpPr/>
          <p:nvPr/>
        </p:nvSpPr>
        <p:spPr>
          <a:xfrm>
            <a:off x="1143000" y="1609725"/>
            <a:ext cx="1697355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준거집단 크기가 다르면 격차지수를 직접 비교할 수 없다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9"/>
          <p:cNvSpPr/>
          <p:nvPr/>
        </p:nvSpPr>
        <p:spPr>
          <a:xfrm>
            <a:off x="1143000" y="2867025"/>
            <a:ext cx="6477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9"/>
          <p:cNvSpPr/>
          <p:nvPr/>
        </p:nvSpPr>
        <p:spPr>
          <a:xfrm>
            <a:off x="2057400" y="2867025"/>
            <a:ext cx="1166751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550"/>
              <a:buFont typeface="IBM Plex Sans KR"/>
              <a:buNone/>
            </a:pPr>
            <a:r>
              <a:rPr b="0" i="0" lang="en-US" sz="25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강원특별자치도(−9)와 야마가타현(−21)을 절대값 크기로 직접 비교해서는 안 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9"/>
          <p:cNvSpPr/>
          <p:nvPr/>
        </p:nvSpPr>
        <p:spPr>
          <a:xfrm>
            <a:off x="1143000" y="3733800"/>
            <a:ext cx="590699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9"/>
          <p:cNvSpPr/>
          <p:nvPr/>
        </p:nvSpPr>
        <p:spPr>
          <a:xfrm>
            <a:off x="2000399" y="3733800"/>
            <a:ext cx="15598939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550"/>
              <a:buFont typeface="IBM Plex Sans KR"/>
              <a:buNone/>
            </a:pPr>
            <a:r>
              <a:rPr b="0" i="0" lang="en-US" sz="25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한국은 17개, 일본은 47개 지역을 준거집단으로 순위를 매긴다 — 지수가 취할 수 있는 범위 자체가 한국 ±16, 일본 ±46으로 다르다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9"/>
          <p:cNvSpPr/>
          <p:nvPr/>
        </p:nvSpPr>
        <p:spPr>
          <a:xfrm>
            <a:off x="1143000" y="5086350"/>
            <a:ext cx="64770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9"/>
          <p:cNvSpPr/>
          <p:nvPr/>
        </p:nvSpPr>
        <p:spPr>
          <a:xfrm>
            <a:off x="2057400" y="5086350"/>
            <a:ext cx="12280612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550"/>
              <a:buFont typeface="IBM Plex Sans KR"/>
              <a:buNone/>
            </a:pPr>
            <a:r>
              <a:rPr b="0" i="0" lang="en-US" sz="25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“야마가타현이 강원보다 2배 이상 심각하다”는 해석은 또 다른 형태의 측정 방법 오류다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9"/>
          <p:cNvSpPr/>
          <p:nvPr/>
        </p:nvSpPr>
        <p:spPr>
          <a:xfrm>
            <a:off x="1143000" y="5953125"/>
            <a:ext cx="619274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9"/>
          <p:cNvSpPr/>
          <p:nvPr/>
        </p:nvSpPr>
        <p:spPr>
          <a:xfrm>
            <a:off x="2028974" y="5953125"/>
            <a:ext cx="15569507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550"/>
              <a:buFont typeface="IBM Plex Sans KR"/>
              <a:buNone/>
            </a:pPr>
            <a:r>
              <a:rPr b="0" i="0" lang="en-US" sz="25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국가별 순위는 문제를 없앤 것이 아니라 비교의 층위를 한 단계 옮긴 것이며, 그 층위 안에서도 준거집단 크기를 통제해야 한다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RQ3 · 지표 정의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국가별로는 양의 상관, 통합하면 음의 상관이 된다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0"/>
          <p:cNvSpPr/>
          <p:nvPr/>
        </p:nvSpPr>
        <p:spPr>
          <a:xfrm>
            <a:off x="1143000" y="2790825"/>
            <a:ext cx="16002000" cy="1066800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0"/>
          <p:cNvSpPr/>
          <p:nvPr/>
        </p:nvSpPr>
        <p:spPr>
          <a:xfrm>
            <a:off x="1143000" y="3781425"/>
            <a:ext cx="16002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30"/>
          <p:cNvSpPr/>
          <p:nvPr/>
        </p:nvSpPr>
        <p:spPr>
          <a:xfrm>
            <a:off x="1524000" y="3095625"/>
            <a:ext cx="3947160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비교 범위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0"/>
          <p:cNvSpPr/>
          <p:nvPr/>
        </p:nvSpPr>
        <p:spPr>
          <a:xfrm>
            <a:off x="6096000" y="3095625"/>
            <a:ext cx="767524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상관계수 (고령화율 × 요양기관수)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0"/>
          <p:cNvSpPr/>
          <p:nvPr/>
        </p:nvSpPr>
        <p:spPr>
          <a:xfrm>
            <a:off x="14287500" y="3095625"/>
            <a:ext cx="2573655" cy="4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부호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0"/>
          <p:cNvSpPr/>
          <p:nvPr/>
        </p:nvSpPr>
        <p:spPr>
          <a:xfrm>
            <a:off x="1143000" y="5038725"/>
            <a:ext cx="16002000" cy="381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0"/>
          <p:cNvSpPr/>
          <p:nvPr/>
        </p:nvSpPr>
        <p:spPr>
          <a:xfrm>
            <a:off x="1524000" y="4219575"/>
            <a:ext cx="394716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한국 내부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0"/>
          <p:cNvSpPr/>
          <p:nvPr/>
        </p:nvSpPr>
        <p:spPr>
          <a:xfrm>
            <a:off x="6096000" y="4219575"/>
            <a:ext cx="767524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+0.742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0"/>
          <p:cNvSpPr/>
          <p:nvPr/>
        </p:nvSpPr>
        <p:spPr>
          <a:xfrm>
            <a:off x="14287500" y="4219575"/>
            <a:ext cx="257365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양 (+)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0"/>
          <p:cNvSpPr/>
          <p:nvPr/>
        </p:nvSpPr>
        <p:spPr>
          <a:xfrm>
            <a:off x="1143000" y="6257925"/>
            <a:ext cx="16002000" cy="381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30"/>
          <p:cNvSpPr/>
          <p:nvPr/>
        </p:nvSpPr>
        <p:spPr>
          <a:xfrm>
            <a:off x="1524000" y="5438775"/>
            <a:ext cx="394716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일본 내부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0"/>
          <p:cNvSpPr/>
          <p:nvPr/>
        </p:nvSpPr>
        <p:spPr>
          <a:xfrm>
            <a:off x="6096000" y="5438775"/>
            <a:ext cx="767524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+0.819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0"/>
          <p:cNvSpPr/>
          <p:nvPr/>
        </p:nvSpPr>
        <p:spPr>
          <a:xfrm>
            <a:off x="14287500" y="5438775"/>
            <a:ext cx="257365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양 (+)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0"/>
          <p:cNvSpPr/>
          <p:nvPr/>
        </p:nvSpPr>
        <p:spPr>
          <a:xfrm>
            <a:off x="1143000" y="6296025"/>
            <a:ext cx="16002000" cy="1181100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30"/>
          <p:cNvSpPr/>
          <p:nvPr/>
        </p:nvSpPr>
        <p:spPr>
          <a:xfrm>
            <a:off x="1524000" y="6657975"/>
            <a:ext cx="394716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두 나라 통합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0"/>
          <p:cNvSpPr/>
          <p:nvPr/>
        </p:nvSpPr>
        <p:spPr>
          <a:xfrm>
            <a:off x="6096000" y="6657975"/>
            <a:ext cx="767524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−0.673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0"/>
          <p:cNvSpPr/>
          <p:nvPr/>
        </p:nvSpPr>
        <p:spPr>
          <a:xfrm>
            <a:off x="14287500" y="6657975"/>
            <a:ext cx="257365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음 (−) — 반전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0"/>
          <p:cNvSpPr/>
          <p:nvPr/>
        </p:nvSpPr>
        <p:spPr>
          <a:xfrm>
            <a:off x="1143000" y="7896225"/>
            <a:ext cx="163449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집단별로는 양의 상관, 두 집단을 합치면 음의 상관 — 심프슨의 역설(Simpson’s Paradox)의 교과서적 사례다.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3A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1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RQ3 · 통합 상관계수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1143000" y="3247132"/>
            <a:ext cx="17602200" cy="2506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600"/>
              <a:buFont typeface="Gothic A1"/>
              <a:buNone/>
            </a:pPr>
            <a:r>
              <a:rPr b="1" i="0" lang="en-US" sz="216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−0.673</a:t>
            </a:r>
            <a:endParaRPr b="0" i="0" sz="2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1143000" y="5944493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0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두 나라를 합쳐 계산한 고령화율 × 요양기관수 상관계수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1143000" y="8572500"/>
            <a:ext cx="14859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1"/>
          <p:cNvSpPr/>
          <p:nvPr/>
        </p:nvSpPr>
        <p:spPr>
          <a:xfrm>
            <a:off x="1143000" y="9067800"/>
            <a:ext cx="1530477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한국 내부 +0.742, 일본 내부 +0.819 — 집단 간 대비의 기울기가 집단 내부의 기울기를 압도해 부호가 뒤집힌다.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32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RQ3 · 지표 정의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2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두 나라의 요양기관 통계는 다른 것을 세고 있었다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2"/>
          <p:cNvSpPr/>
          <p:nvPr/>
        </p:nvSpPr>
        <p:spPr>
          <a:xfrm>
            <a:off x="1600200" y="3286125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한국 · KOSIS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2"/>
          <p:cNvSpPr/>
          <p:nvPr/>
        </p:nvSpPr>
        <p:spPr>
          <a:xfrm>
            <a:off x="1600200" y="3867150"/>
            <a:ext cx="758571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000"/>
              <a:buFont typeface="Gothic A1"/>
              <a:buNone/>
            </a:pPr>
            <a:r>
              <a:rPr b="1" i="0" lang="en-US" sz="30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장기요양기관 기관수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2"/>
          <p:cNvSpPr/>
          <p:nvPr/>
        </p:nvSpPr>
        <p:spPr>
          <a:xfrm>
            <a:off x="1600200" y="4572000"/>
            <a:ext cx="7102983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방문요양·주야간보호·노인요양시설 등 모든 서비스유형을 합산한 값이다.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2"/>
          <p:cNvSpPr/>
          <p:nvPr/>
        </p:nvSpPr>
        <p:spPr>
          <a:xfrm>
            <a:off x="1600200" y="5657850"/>
            <a:ext cx="758571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그래서 절대값이 정의상 훨씬 크게 나온다.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32"/>
          <p:cNvSpPr/>
          <p:nvPr/>
        </p:nvSpPr>
        <p:spPr>
          <a:xfrm>
            <a:off x="9791700" y="3286125"/>
            <a:ext cx="758571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일본 · e-Stat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2"/>
          <p:cNvSpPr/>
          <p:nvPr/>
        </p:nvSpPr>
        <p:spPr>
          <a:xfrm>
            <a:off x="9791700" y="3867150"/>
            <a:ext cx="758571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000"/>
              <a:buFont typeface="Gothic A1"/>
              <a:buNone/>
            </a:pPr>
            <a:r>
              <a:rPr b="1" i="0" lang="en-US" sz="30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介護老人福祉施設数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2"/>
          <p:cNvSpPr/>
          <p:nvPr/>
        </p:nvSpPr>
        <p:spPr>
          <a:xfrm>
            <a:off x="9791700" y="4572000"/>
            <a:ext cx="758571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그중 입소시설(특별양호노인홈) 한 유형만 집계한 값이다.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2"/>
          <p:cNvSpPr/>
          <p:nvPr/>
        </p:nvSpPr>
        <p:spPr>
          <a:xfrm>
            <a:off x="1143000" y="9067800"/>
            <a:ext cx="1697355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이를 모르고 두 나라 데이터를 단순 합산하면 “돌봄 인프라가 많을수록 고령화율이 낮다”는 존재하지 않는 착시에 빠진다.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33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04 · 종합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3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세 사례 모두 설계 선택이 결론을 정했다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3"/>
          <p:cNvSpPr/>
          <p:nvPr/>
        </p:nvSpPr>
        <p:spPr>
          <a:xfrm>
            <a:off x="1143000" y="2714625"/>
            <a:ext cx="16002000" cy="923925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3"/>
          <p:cNvSpPr/>
          <p:nvPr/>
        </p:nvSpPr>
        <p:spPr>
          <a:xfrm>
            <a:off x="1143000" y="3562350"/>
            <a:ext cx="16002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3"/>
          <p:cNvSpPr/>
          <p:nvPr/>
        </p:nvSpPr>
        <p:spPr>
          <a:xfrm>
            <a:off x="1447800" y="2962275"/>
            <a:ext cx="233362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RQ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3"/>
          <p:cNvSpPr/>
          <p:nvPr/>
        </p:nvSpPr>
        <p:spPr>
          <a:xfrm>
            <a:off x="4305300" y="2962275"/>
            <a:ext cx="419766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조건 A → 결론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3"/>
          <p:cNvSpPr/>
          <p:nvPr/>
        </p:nvSpPr>
        <p:spPr>
          <a:xfrm>
            <a:off x="8972550" y="2962275"/>
            <a:ext cx="4197668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조건 B → 결론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3"/>
          <p:cNvSpPr/>
          <p:nvPr/>
        </p:nvSpPr>
        <p:spPr>
          <a:xfrm>
            <a:off x="13639800" y="2962275"/>
            <a:ext cx="33147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결론이 바뀐 원인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3"/>
          <p:cNvSpPr/>
          <p:nvPr/>
        </p:nvSpPr>
        <p:spPr>
          <a:xfrm>
            <a:off x="1143000" y="4610100"/>
            <a:ext cx="16002000" cy="381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33"/>
          <p:cNvSpPr/>
          <p:nvPr/>
        </p:nvSpPr>
        <p:spPr>
          <a:xfrm>
            <a:off x="1447800" y="3924300"/>
            <a:ext cx="233362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IBM Plex Sans KR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RQ1 기간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3"/>
          <p:cNvSpPr/>
          <p:nvPr/>
        </p:nvSpPr>
        <p:spPr>
          <a:xfrm>
            <a:off x="4305300" y="3924300"/>
            <a:ext cx="419766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IBM Plex Sans KR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2015~2024 → 속도 ≈ 2배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3"/>
          <p:cNvSpPr/>
          <p:nvPr/>
        </p:nvSpPr>
        <p:spPr>
          <a:xfrm>
            <a:off x="8972550" y="3924300"/>
            <a:ext cx="4197668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IBM Plex Sans KR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2015~2023 → 속도 ≈ 1.8배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3"/>
          <p:cNvSpPr/>
          <p:nvPr/>
        </p:nvSpPr>
        <p:spPr>
          <a:xfrm>
            <a:off x="13639800" y="3924300"/>
            <a:ext cx="331470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IBM Plex Sans KR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배율 지표의 끝점 민감성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3"/>
          <p:cNvSpPr/>
          <p:nvPr/>
        </p:nvSpPr>
        <p:spPr>
          <a:xfrm>
            <a:off x="1143000" y="5966222"/>
            <a:ext cx="16002000" cy="381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33"/>
          <p:cNvSpPr/>
          <p:nvPr/>
        </p:nvSpPr>
        <p:spPr>
          <a:xfrm>
            <a:off x="1447800" y="4933950"/>
            <a:ext cx="2333625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IBM Plex Sans KR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RQ2 비교단위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3"/>
          <p:cNvSpPr/>
          <p:nvPr/>
        </p:nvSpPr>
        <p:spPr>
          <a:xfrm>
            <a:off x="4305300" y="4933950"/>
            <a:ext cx="4197668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IBM Plex Sans KR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전역 순위 → 취약지역 TOP15 전부 일본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33"/>
          <p:cNvSpPr/>
          <p:nvPr/>
        </p:nvSpPr>
        <p:spPr>
          <a:xfrm>
            <a:off x="8972550" y="4933950"/>
            <a:ext cx="4197668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IBM Plex Sans KR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국가별 순위 → 강원·야마가타 각각 도출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3"/>
          <p:cNvSpPr/>
          <p:nvPr/>
        </p:nvSpPr>
        <p:spPr>
          <a:xfrm>
            <a:off x="13639800" y="4933950"/>
            <a:ext cx="3314700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IBM Plex Sans KR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준거집단 혼합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1447800" y="6290072"/>
            <a:ext cx="2333625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IBM Plex Sans KR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RQ3 지표정의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33"/>
          <p:cNvSpPr/>
          <p:nvPr/>
        </p:nvSpPr>
        <p:spPr>
          <a:xfrm>
            <a:off x="4305300" y="6290072"/>
            <a:ext cx="4197668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IBM Plex Sans KR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국가 통합 → r = −0.673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5" name="Google Shape;435;p33"/>
          <p:cNvSpPr/>
          <p:nvPr/>
        </p:nvSpPr>
        <p:spPr>
          <a:xfrm>
            <a:off x="8972550" y="6290072"/>
            <a:ext cx="4197668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IBM Plex Sans KR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국가 내부 → KR +0.742 / JP +0.819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3"/>
          <p:cNvSpPr/>
          <p:nvPr/>
        </p:nvSpPr>
        <p:spPr>
          <a:xfrm>
            <a:off x="13639800" y="6290072"/>
            <a:ext cx="3314700" cy="78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IBM Plex Sans KR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조작적 정의 범위 차이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3"/>
          <p:cNvSpPr/>
          <p:nvPr/>
        </p:nvSpPr>
        <p:spPr>
          <a:xfrm>
            <a:off x="1143000" y="7703344"/>
            <a:ext cx="1697355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체크리스트 — 비교 기간이 양쪽에 공정한가, 비교 단위가 적절한 준거집단인가, 지표 정의가 양쪽에서 같은 범위를 가리키는가.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3A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4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SECTION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4"/>
          <p:cNvSpPr/>
          <p:nvPr/>
        </p:nvSpPr>
        <p:spPr>
          <a:xfrm>
            <a:off x="1143000" y="6111478"/>
            <a:ext cx="17602200" cy="2506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600"/>
              <a:buFont typeface="Gothic A1"/>
              <a:buNone/>
            </a:pPr>
            <a:r>
              <a:rPr b="1" i="0" lang="en-US" sz="216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05</a:t>
            </a:r>
            <a:endParaRPr b="0" i="0" sz="2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4"/>
          <p:cNvSpPr/>
          <p:nvPr/>
        </p:nvSpPr>
        <p:spPr>
          <a:xfrm>
            <a:off x="1143000" y="8770739"/>
            <a:ext cx="17602200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5400"/>
              <a:buFont typeface="Gothic A1"/>
              <a:buNone/>
            </a:pPr>
            <a:r>
              <a:rPr b="1" i="0" lang="en-US" sz="54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결론과 정책 제언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35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05 · 정책 제언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5"/>
          <p:cNvSpPr/>
          <p:nvPr/>
        </p:nvSpPr>
        <p:spPr>
          <a:xfrm>
            <a:off x="1143000" y="1571625"/>
            <a:ext cx="16973550" cy="6780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200"/>
              <a:buFont typeface="Gothic A1"/>
              <a:buNone/>
            </a:pPr>
            <a:r>
              <a:rPr b="1" i="0" lang="en-US" sz="42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예산 우선순위는 전역 순위가 아니라 국가 내 순위로 정해야 한다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5"/>
          <p:cNvSpPr/>
          <p:nvPr/>
        </p:nvSpPr>
        <p:spPr>
          <a:xfrm>
            <a:off x="1143000" y="2592586"/>
            <a:ext cx="16002000" cy="885825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5"/>
          <p:cNvSpPr/>
          <p:nvPr/>
        </p:nvSpPr>
        <p:spPr>
          <a:xfrm>
            <a:off x="1143000" y="3402211"/>
            <a:ext cx="160020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5" name="Google Shape;455;p35"/>
          <p:cNvSpPr/>
          <p:nvPr/>
        </p:nvSpPr>
        <p:spPr>
          <a:xfrm>
            <a:off x="1447800" y="2821186"/>
            <a:ext cx="4442016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발견된 문제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5"/>
          <p:cNvSpPr/>
          <p:nvPr/>
        </p:nvSpPr>
        <p:spPr>
          <a:xfrm>
            <a:off x="6352282" y="2821186"/>
            <a:ext cx="5326824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분석 결과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5"/>
          <p:cNvSpPr/>
          <p:nvPr/>
        </p:nvSpPr>
        <p:spPr>
          <a:xfrm>
            <a:off x="12115800" y="2821186"/>
            <a:ext cx="488442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1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제안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5"/>
          <p:cNvSpPr/>
          <p:nvPr/>
        </p:nvSpPr>
        <p:spPr>
          <a:xfrm>
            <a:off x="1143000" y="5468541"/>
            <a:ext cx="16002000" cy="381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5"/>
          <p:cNvSpPr/>
          <p:nvPr/>
        </p:nvSpPr>
        <p:spPr>
          <a:xfrm>
            <a:off x="1447800" y="3745111"/>
            <a:ext cx="4442016" cy="1494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875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025"/>
              <a:buFont typeface="IBM Plex Sans KR"/>
              <a:buNone/>
            </a:pPr>
            <a:r>
              <a:rPr b="0" i="0" lang="en-US" sz="2025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한국의 고령화 속도가 일본보다 약 1.8배 빠름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5"/>
          <p:cNvSpPr/>
          <p:nvPr/>
        </p:nvSpPr>
        <p:spPr>
          <a:xfrm>
            <a:off x="6352282" y="3745111"/>
            <a:ext cx="5326824" cy="1494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875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025"/>
              <a:buFont typeface="IBM Plex Sans KR"/>
              <a:buNone/>
            </a:pPr>
            <a:r>
              <a:rPr b="0" i="0" lang="en-US" sz="2025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8년간 한국 연 +0.72%p vs 일본 연 +0.41%p. 부산·강원·울산·경북·대구 순으로 증가폭 최대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5"/>
          <p:cNvSpPr/>
          <p:nvPr/>
        </p:nvSpPr>
        <p:spPr>
          <a:xfrm>
            <a:off x="12115800" y="3745111"/>
            <a:ext cx="4884420" cy="1494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875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025"/>
              <a:buFont typeface="IBM Plex Sans KR"/>
              <a:buNone/>
            </a:pPr>
            <a:r>
              <a:rPr b="0" i="0" lang="en-US" sz="2025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증가폭이 큰 광역시·도를 인프라 확충 예산 우선 배정 대상으로 지정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35"/>
          <p:cNvSpPr/>
          <p:nvPr/>
        </p:nvSpPr>
        <p:spPr>
          <a:xfrm>
            <a:off x="1143000" y="7496770"/>
            <a:ext cx="16002000" cy="381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5"/>
          <p:cNvSpPr/>
          <p:nvPr/>
        </p:nvSpPr>
        <p:spPr>
          <a:xfrm>
            <a:off x="1447800" y="5773341"/>
            <a:ext cx="4442016" cy="1494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875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025"/>
              <a:buFont typeface="IBM Plex Sans KR"/>
              <a:buNone/>
            </a:pPr>
            <a:r>
              <a:rPr b="0" i="0" lang="en-US" sz="2025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고령화율은 높은데 인프라는 낮은 지역이 전역 순위로는 보이지 않음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5"/>
          <p:cNvSpPr/>
          <p:nvPr/>
        </p:nvSpPr>
        <p:spPr>
          <a:xfrm>
            <a:off x="6352282" y="5773341"/>
            <a:ext cx="5326824" cy="1494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875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025"/>
              <a:buFont typeface="IBM Plex Sans KR"/>
              <a:buNone/>
            </a:pPr>
            <a:r>
              <a:rPr b="0" i="0" lang="en-US" sz="2025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국가별 격차지수 1위는 한국 강원특별자치도(병상수 108.2, 전국평균 151.8 대비 29% 낮음), 일본 야마가타현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5"/>
          <p:cNvSpPr/>
          <p:nvPr/>
        </p:nvSpPr>
        <p:spPr>
          <a:xfrm>
            <a:off x="12115800" y="5773341"/>
            <a:ext cx="4884420" cy="1494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875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025"/>
              <a:buFont typeface="IBM Plex Sans KR"/>
              <a:buNone/>
            </a:pPr>
            <a:r>
              <a:rPr b="0" i="0" lang="en-US" sz="2025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전역 순위 대신 국가별 순위로 예산 우선순위를 정하고, 강원은 병상수를 전국평균까지 끌어올리는 것을 단기 목표로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1447800" y="7801570"/>
            <a:ext cx="4442016" cy="1494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875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025"/>
              <a:buFont typeface="IBM Plex Sans KR"/>
              <a:buNone/>
            </a:pPr>
            <a:r>
              <a:rPr b="0" i="0" lang="en-US" sz="2025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통계 정의 차이로 국가 간 비교 시 상관관계가 왜곡됨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5"/>
          <p:cNvSpPr/>
          <p:nvPr/>
        </p:nvSpPr>
        <p:spPr>
          <a:xfrm>
            <a:off x="6352282" y="7801570"/>
            <a:ext cx="5326824" cy="1494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875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025"/>
              <a:buFont typeface="IBM Plex Sans KR"/>
              <a:buNone/>
            </a:pPr>
            <a:r>
              <a:rPr b="0" i="0" lang="en-US" sz="2025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국가 내부 +0.742 / +0.819 vs 국가 통합 −0.673으로 부호가 반대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5"/>
          <p:cNvSpPr/>
          <p:nvPr/>
        </p:nvSpPr>
        <p:spPr>
          <a:xfrm>
            <a:off x="12115800" y="7801570"/>
            <a:ext cx="4884420" cy="14948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7875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025"/>
              <a:buFont typeface="IBM Plex Sans KR"/>
              <a:buNone/>
            </a:pPr>
            <a:r>
              <a:rPr b="0" i="0" lang="en-US" sz="2025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국가 간 비교 자료에 지표 정의 각주를 필수화하고, 정의를 통일한 보정 지표를 개발</a:t>
            </a:r>
            <a:endParaRPr b="0" i="0" sz="202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36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05 · 한계와 과제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6"/>
          <p:cNvSpPr/>
          <p:nvPr/>
        </p:nvSpPr>
        <p:spPr>
          <a:xfrm>
            <a:off x="1143000" y="1609725"/>
            <a:ext cx="176022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500"/>
              <a:buFont typeface="Gothic A1"/>
              <a:buNone/>
            </a:pPr>
            <a:r>
              <a:rPr b="1" i="0" lang="en-US" sz="45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세 사례는 모두 사후적으로 발견되었다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6"/>
          <p:cNvSpPr/>
          <p:nvPr/>
        </p:nvSpPr>
        <p:spPr>
          <a:xfrm>
            <a:off x="1143000" y="2828925"/>
            <a:ext cx="6477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01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6"/>
          <p:cNvSpPr/>
          <p:nvPr/>
        </p:nvSpPr>
        <p:spPr>
          <a:xfrm>
            <a:off x="2057400" y="2828925"/>
            <a:ext cx="13315102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상관관계는 인과관계가 아니다 — 4장의 논의도 “측정 정의가 통계량을 어떻게 바꾸는가”로 한정된다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36"/>
          <p:cNvSpPr/>
          <p:nvPr/>
        </p:nvSpPr>
        <p:spPr>
          <a:xfrm>
            <a:off x="1143000" y="3609975"/>
            <a:ext cx="6477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02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6"/>
          <p:cNvSpPr/>
          <p:nvPr/>
        </p:nvSpPr>
        <p:spPr>
          <a:xfrm>
            <a:off x="2057400" y="3609975"/>
            <a:ext cx="7335069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64개 “지역” 표본을 국가 단위 진술로 일반화할 수 없다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6"/>
          <p:cNvSpPr/>
          <p:nvPr/>
        </p:nvSpPr>
        <p:spPr>
          <a:xfrm>
            <a:off x="1143000" y="4391025"/>
            <a:ext cx="6477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03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6"/>
          <p:cNvSpPr/>
          <p:nvPr/>
        </p:nvSpPr>
        <p:spPr>
          <a:xfrm>
            <a:off x="2057400" y="4391025"/>
            <a:ext cx="8694524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일본 2024년 인프라 데이터 결측으로 인한 기간 절단이 남아 있다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6"/>
          <p:cNvSpPr/>
          <p:nvPr/>
        </p:nvSpPr>
        <p:spPr>
          <a:xfrm>
            <a:off x="1143000" y="5172075"/>
            <a:ext cx="647700" cy="4095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1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04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6"/>
          <p:cNvSpPr/>
          <p:nvPr/>
        </p:nvSpPr>
        <p:spPr>
          <a:xfrm>
            <a:off x="2057400" y="5172075"/>
            <a:ext cx="900704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장기요양기관 정의 차이를 보정한 표준화 지표 개발이 과제로 남는다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6"/>
          <p:cNvSpPr/>
          <p:nvPr/>
        </p:nvSpPr>
        <p:spPr>
          <a:xfrm>
            <a:off x="1143000" y="8610600"/>
            <a:ext cx="154305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36"/>
          <p:cNvSpPr/>
          <p:nvPr/>
        </p:nvSpPr>
        <p:spPr>
          <a:xfrm>
            <a:off x="1143000" y="9067800"/>
            <a:ext cx="15893415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세 사례 모두 사후적으로 발견되었다 — 설계 단계에서부터 기간·단위·정의의 민감도 분석을 포함하는 것이 바람직하다.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>
            <a:off x="1143000" y="2515493"/>
            <a:ext cx="1760220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12000"/>
              <a:buFont typeface="Gothic A1"/>
              <a:buNone/>
            </a:pPr>
            <a:r>
              <a:rPr b="1" i="0" lang="en-US" sz="120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감사합니다</a:t>
            </a:r>
            <a:endParaRPr b="0" i="0" sz="1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7"/>
          <p:cNvSpPr/>
          <p:nvPr/>
        </p:nvSpPr>
        <p:spPr>
          <a:xfrm>
            <a:off x="1143000" y="4344293"/>
            <a:ext cx="17602200" cy="7314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8378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200"/>
              <a:buFont typeface="Roboto Mono"/>
              <a:buNone/>
            </a:pPr>
            <a:r>
              <a:rPr b="0" i="0" lang="en-US" sz="42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질문 부탁드립니다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7"/>
          <p:cNvSpPr/>
          <p:nvPr/>
        </p:nvSpPr>
        <p:spPr>
          <a:xfrm>
            <a:off x="0" y="7553325"/>
            <a:ext cx="18288000" cy="2733675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7"/>
          <p:cNvSpPr/>
          <p:nvPr/>
        </p:nvSpPr>
        <p:spPr>
          <a:xfrm>
            <a:off x="1143000" y="8662988"/>
            <a:ext cx="2064231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000"/>
              <a:buFont typeface="Roboto Mono"/>
              <a:buNone/>
            </a:pPr>
            <a:r>
              <a:rPr b="0" i="0" lang="en-US" sz="30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발표자 이름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7"/>
          <p:cNvSpPr/>
          <p:nvPr/>
        </p:nvSpPr>
        <p:spPr>
          <a:xfrm>
            <a:off x="12934801" y="8662988"/>
            <a:ext cx="4631219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000"/>
              <a:buFont typeface="Roboto Mono"/>
              <a:buNone/>
            </a:pPr>
            <a:r>
              <a:rPr b="0" i="0" lang="en-US" sz="30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부록에 백업 슬라이드 3장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CD13A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8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SECTION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8"/>
          <p:cNvSpPr/>
          <p:nvPr/>
        </p:nvSpPr>
        <p:spPr>
          <a:xfrm>
            <a:off x="1143000" y="6111478"/>
            <a:ext cx="17602200" cy="2506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72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600"/>
              <a:buFont typeface="Gothic A1"/>
              <a:buNone/>
            </a:pPr>
            <a:r>
              <a:rPr b="1" i="0" lang="en-US" sz="216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06</a:t>
            </a:r>
            <a:endParaRPr b="0" i="0" sz="2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38"/>
          <p:cNvSpPr/>
          <p:nvPr/>
        </p:nvSpPr>
        <p:spPr>
          <a:xfrm>
            <a:off x="1143000" y="8770739"/>
            <a:ext cx="17602200" cy="7923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5400"/>
              <a:buFont typeface="Gothic A1"/>
              <a:buNone/>
            </a:pPr>
            <a:r>
              <a:rPr b="1" i="0" lang="en-US" sz="54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부록 — 백업 자료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9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부록 1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9"/>
          <p:cNvSpPr/>
          <p:nvPr/>
        </p:nvSpPr>
        <p:spPr>
          <a:xfrm>
            <a:off x="1143000" y="1647825"/>
            <a:ext cx="17602200" cy="769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800"/>
              <a:buFont typeface="Gothic A1"/>
              <a:buNone/>
            </a:pPr>
            <a:r>
              <a:rPr b="1" i="0" lang="en-US" sz="48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데이터베이스 구조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9"/>
          <p:cNvSpPr/>
          <p:nvPr/>
        </p:nvSpPr>
        <p:spPr>
          <a:xfrm>
            <a:off x="1143000" y="5032921"/>
            <a:ext cx="5334000" cy="2447925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39"/>
          <p:cNvSpPr/>
          <p:nvPr/>
        </p:nvSpPr>
        <p:spPr>
          <a:xfrm>
            <a:off x="1600200" y="5490121"/>
            <a:ext cx="486156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550"/>
              <a:buFont typeface="Roboto Mono"/>
              <a:buNone/>
            </a:pPr>
            <a:r>
              <a:rPr b="1" i="0" lang="en-US" sz="25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Fact_RegionStats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9"/>
          <p:cNvSpPr/>
          <p:nvPr/>
        </p:nvSpPr>
        <p:spPr>
          <a:xfrm>
            <a:off x="1600200" y="6071146"/>
            <a:ext cx="48615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576행 · 64개 지역 × 9개년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9"/>
          <p:cNvSpPr/>
          <p:nvPr/>
        </p:nvSpPr>
        <p:spPr>
          <a:xfrm>
            <a:off x="1600200" y="6623596"/>
            <a:ext cx="48615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IBM Plex Sans KR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SQLite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9"/>
          <p:cNvSpPr/>
          <p:nvPr/>
        </p:nvSpPr>
        <p:spPr>
          <a:xfrm>
            <a:off x="7429500" y="3900488"/>
            <a:ext cx="1022604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VIEW Fact_Population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9"/>
          <p:cNvSpPr/>
          <p:nvPr/>
        </p:nvSpPr>
        <p:spPr>
          <a:xfrm>
            <a:off x="7429500" y="4424363"/>
            <a:ext cx="10226040" cy="424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419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75"/>
              <a:buFont typeface="IBM Plex Sans KR"/>
              <a:buNone/>
            </a:pPr>
            <a:r>
              <a:rPr b="0" i="0" lang="en-US" sz="2175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인구·고령화율 — 결측 없이 항상 완전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9"/>
          <p:cNvSpPr/>
          <p:nvPr/>
        </p:nvSpPr>
        <p:spPr>
          <a:xfrm>
            <a:off x="7429500" y="5801618"/>
            <a:ext cx="1022604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VIEW Fact_Infra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9"/>
          <p:cNvSpPr/>
          <p:nvPr/>
        </p:nvSpPr>
        <p:spPr>
          <a:xfrm>
            <a:off x="7429500" y="6325493"/>
            <a:ext cx="10226040" cy="424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419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75"/>
              <a:buFont typeface="IBM Plex Sans KR"/>
              <a:buNone/>
            </a:pPr>
            <a:r>
              <a:rPr b="0" i="0" lang="en-US" sz="2175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병상수·요양기관수 — 결측 구간(2024년) 제외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9"/>
          <p:cNvSpPr/>
          <p:nvPr/>
        </p:nvSpPr>
        <p:spPr>
          <a:xfrm>
            <a:off x="7429500" y="7702748"/>
            <a:ext cx="1022604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Roboto Mono"/>
              <a:buNone/>
            </a:pPr>
            <a:r>
              <a:rPr b="1" i="0" lang="en-US" sz="24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Dim_Region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9"/>
          <p:cNvSpPr/>
          <p:nvPr/>
        </p:nvSpPr>
        <p:spPr>
          <a:xfrm>
            <a:off x="7429500" y="8226623"/>
            <a:ext cx="10226040" cy="4247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4419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75"/>
              <a:buFont typeface="IBM Plex Sans KR"/>
              <a:buNone/>
            </a:pPr>
            <a:r>
              <a:rPr b="0" i="0" lang="en-US" sz="2175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한국 17개 시·도 + 일본 47개 도도부현</a:t>
            </a:r>
            <a:endParaRPr b="0" i="0" sz="21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0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부록 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40"/>
          <p:cNvSpPr/>
          <p:nvPr/>
        </p:nvSpPr>
        <p:spPr>
          <a:xfrm>
            <a:off x="1143000" y="1647825"/>
            <a:ext cx="17602200" cy="769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800"/>
              <a:buFont typeface="Gothic A1"/>
              <a:buNone/>
            </a:pPr>
            <a:r>
              <a:rPr b="1" i="0" lang="en-US" sz="48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주요 SQL/DAX 정의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0"/>
          <p:cNvSpPr/>
          <p:nvPr/>
        </p:nvSpPr>
        <p:spPr>
          <a:xfrm>
            <a:off x="1143000" y="2988915"/>
            <a:ext cx="1760220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인프라 격차지수 (DAX)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0"/>
          <p:cNvSpPr/>
          <p:nvPr/>
        </p:nvSpPr>
        <p:spPr>
          <a:xfrm>
            <a:off x="1143000" y="3817590"/>
            <a:ext cx="16002000" cy="1885950"/>
          </a:xfrm>
          <a:prstGeom prst="rect">
            <a:avLst/>
          </a:prstGeom>
          <a:solidFill>
            <a:srgbClr val="FCD13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40"/>
          <p:cNvSpPr/>
          <p:nvPr/>
        </p:nvSpPr>
        <p:spPr>
          <a:xfrm>
            <a:off x="1600200" y="4274790"/>
            <a:ext cx="15540228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550"/>
              <a:buFont typeface="Roboto Mono"/>
              <a:buNone/>
            </a:pPr>
            <a:r>
              <a:rPr b="0" i="0" lang="en-US" sz="25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RANKX(ALL(Dim_Region), [평균 고령화율]) − RANKX(ALL(Dim_Region), [평균 병상수] + [평균 요양기관수])</a:t>
            </a:r>
            <a:endParaRPr b="0" i="0" sz="2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40"/>
          <p:cNvSpPr/>
          <p:nvPr/>
        </p:nvSpPr>
        <p:spPr>
          <a:xfrm>
            <a:off x="1143000" y="6008340"/>
            <a:ext cx="17602200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5385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250"/>
              <a:buFont typeface="Roboto Mono"/>
              <a:buNone/>
            </a:pPr>
            <a:r>
              <a:rPr b="0" i="0" lang="en-US" sz="225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RANK() OVER (PARTITION BY country ORDER BY ...)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41"/>
          <p:cNvSpPr/>
          <p:nvPr/>
        </p:nvSpPr>
        <p:spPr>
          <a:xfrm>
            <a:off x="1143000" y="952500"/>
            <a:ext cx="17602200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100"/>
              <a:buFont typeface="Roboto Mono"/>
              <a:buNone/>
            </a:pPr>
            <a:r>
              <a:rPr b="0" i="0" lang="en-US" sz="2100" u="none" cap="none" strike="noStrike">
                <a:solidFill>
                  <a:srgbClr val="080C1A"/>
                </a:solidFill>
                <a:latin typeface="Roboto Mono"/>
                <a:ea typeface="Roboto Mono"/>
                <a:cs typeface="Roboto Mono"/>
                <a:sym typeface="Roboto Mono"/>
              </a:rPr>
              <a:t>부록 3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41"/>
          <p:cNvSpPr/>
          <p:nvPr/>
        </p:nvSpPr>
        <p:spPr>
          <a:xfrm>
            <a:off x="1143000" y="1647825"/>
            <a:ext cx="17602200" cy="7695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4800"/>
              <a:buFont typeface="Gothic A1"/>
              <a:buNone/>
            </a:pPr>
            <a:r>
              <a:rPr b="1" i="0" lang="en-US" sz="48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데이터 출처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41"/>
          <p:cNvSpPr/>
          <p:nvPr/>
        </p:nvSpPr>
        <p:spPr>
          <a:xfrm>
            <a:off x="1143000" y="2988915"/>
            <a:ext cx="76962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41"/>
          <p:cNvSpPr/>
          <p:nvPr/>
        </p:nvSpPr>
        <p:spPr>
          <a:xfrm>
            <a:off x="1143000" y="3446115"/>
            <a:ext cx="84658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일본 · e-Stat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41"/>
          <p:cNvSpPr/>
          <p:nvPr/>
        </p:nvSpPr>
        <p:spPr>
          <a:xfrm>
            <a:off x="1143000" y="4236690"/>
            <a:ext cx="7927086" cy="982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총무성 통계국 공식 API. 인구추계 統計表010, 의료(병상수), 복지(개호노인복지시설 정원).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41"/>
          <p:cNvSpPr/>
          <p:nvPr/>
        </p:nvSpPr>
        <p:spPr>
          <a:xfrm>
            <a:off x="9448800" y="2988915"/>
            <a:ext cx="7696200" cy="76200"/>
          </a:xfrm>
          <a:prstGeom prst="rect">
            <a:avLst/>
          </a:prstGeom>
          <a:solidFill>
            <a:srgbClr val="08081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41"/>
          <p:cNvSpPr/>
          <p:nvPr/>
        </p:nvSpPr>
        <p:spPr>
          <a:xfrm>
            <a:off x="9448800" y="3446115"/>
            <a:ext cx="8465820" cy="5619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3300"/>
              <a:buFont typeface="Gothic A1"/>
              <a:buNone/>
            </a:pPr>
            <a:r>
              <a:rPr b="1" i="0" lang="en-US" sz="3300" u="none" cap="none" strike="noStrike">
                <a:solidFill>
                  <a:srgbClr val="080C1A"/>
                </a:solidFill>
                <a:latin typeface="Gothic A1"/>
                <a:ea typeface="Gothic A1"/>
                <a:cs typeface="Gothic A1"/>
                <a:sym typeface="Gothic A1"/>
              </a:rPr>
              <a:t>한국 · KOSIS Open API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1"/>
          <p:cNvSpPr/>
          <p:nvPr/>
        </p:nvSpPr>
        <p:spPr>
          <a:xfrm>
            <a:off x="9448800" y="4236690"/>
            <a:ext cx="7927086" cy="9828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3333"/>
              </a:lnSpc>
              <a:spcBef>
                <a:spcPts val="0"/>
              </a:spcBef>
              <a:spcAft>
                <a:spcPts val="0"/>
              </a:spcAft>
              <a:buClr>
                <a:srgbClr val="080C1A"/>
              </a:buClr>
              <a:buSzPts val="2400"/>
              <a:buFont typeface="IBM Plex Sans KR"/>
              <a:buNone/>
            </a:pPr>
            <a:r>
              <a:rPr b="0" i="0" lang="en-US" sz="2400" u="none" cap="none" strike="noStrike">
                <a:solidFill>
                  <a:srgbClr val="080C1A"/>
                </a:solidFill>
                <a:latin typeface="IBM Plex Sans KR"/>
                <a:ea typeface="IBM Plex Sans KR"/>
                <a:cs typeface="IBM Plex Sans KR"/>
                <a:sym typeface="IBM Plex Sans KR"/>
              </a:rPr>
              <a:t>고령인구비율, 장기요양기관현황, 의료기관병상수(DT_1YL20971).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