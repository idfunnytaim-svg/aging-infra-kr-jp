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강원특별자치도 2023년 한 행을 예시로 삼아, 테이블 사이에서 데이터가 어떻게 움직이는지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차원 테이블이 팩트 테이블로 모이고, 팩트 테이블이 두 개의 뷰로 갈라지는 전체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차원 테이블은 각각 PK를 하나씩 갖는다. region_id 48, date_id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팩트 테이블은 두 PK를 FK로 받고 측정값을 담는다. medical_beds_per_10k는 저장값이 아니라 파생 계산이다.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뷰는 팩트 테이블에서 필요한 지표만 골라 보여 준다. 인구 뷰와 인프라 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차원에서 팩트로 모이고, 팩트에서 뷰로 갈라진다.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16383000" cy="571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1066800"/>
            <a:ext cx="492589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390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FLOW · STAR SCHEMA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4251186" y="1066800"/>
            <a:ext cx="339274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390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강원특별자치도 · 2023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1603028"/>
            <a:ext cx="16383000" cy="95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925193"/>
            <a:ext cx="15716250" cy="128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182"/>
              </a:lnSpc>
              <a:buNone/>
            </a:pPr>
            <a:r>
              <a:rPr lang="en-US" sz="9600" b="1" spc="-19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테이블 간 데이터 흐름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52500" y="5549652"/>
            <a:ext cx="14716125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984"/>
              </a:lnSpc>
              <a:buNone/>
            </a:pPr>
            <a:r>
              <a:rPr lang="en-US" sz="3300" dirty="0">
                <a:solidFill>
                  <a:srgbClr val="44414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PK-FK로 연결된 두 차원 테이블이 팩트 테이블에 모이고, 다시 두 개의 뷰로 갈라져 나간다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52500" y="9035504"/>
            <a:ext cx="332775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Dim_Region · Dim_Date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739729" y="9035504"/>
            <a:ext cx="237495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Fact_RegionStats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660779" y="9035504"/>
            <a:ext cx="3921859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Fact_Population · Fact_Infra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16383000" cy="476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47725"/>
            <a:ext cx="454690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FLOW · STAR SCHEMA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88418" y="847725"/>
            <a:ext cx="31317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강원특별자치도 · 2023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335286"/>
            <a:ext cx="16383000" cy="95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63911"/>
            <a:ext cx="180213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2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전체 구조</a:t>
            </a:r>
            <a:endParaRPr lang="en-US" sz="4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967782"/>
            <a:ext cx="16383000" cy="4476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52500" y="2967782"/>
            <a:ext cx="4000500" cy="381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3101132"/>
            <a:ext cx="412051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spc="-25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Dim_Region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952500" y="3698230"/>
            <a:ext cx="4000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3803005"/>
            <a:ext cx="20955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region_id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3009900" y="3803005"/>
            <a:ext cx="21374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48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52500" y="4213473"/>
            <a:ext cx="20955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country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3009900" y="4213473"/>
            <a:ext cx="21374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KR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52500" y="4623941"/>
            <a:ext cx="20955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region_name_kr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3009900" y="4642991"/>
            <a:ext cx="213741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강원특별자치도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52500" y="5444282"/>
            <a:ext cx="4000500" cy="381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" y="5577632"/>
            <a:ext cx="412051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spc="-25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Dim_Date</a:t>
            </a:r>
            <a:endParaRPr lang="en-US" sz="2550" dirty="0"/>
          </a:p>
        </p:txBody>
      </p:sp>
      <p:sp>
        <p:nvSpPr>
          <p:cNvPr id="19" name="Shape 16"/>
          <p:cNvSpPr/>
          <p:nvPr/>
        </p:nvSpPr>
        <p:spPr>
          <a:xfrm>
            <a:off x="952500" y="6174730"/>
            <a:ext cx="4000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52500" y="6279505"/>
            <a:ext cx="20955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date_id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3009900" y="6279505"/>
            <a:ext cx="21374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952500" y="6689973"/>
            <a:ext cx="20955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year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3009900" y="6689973"/>
            <a:ext cx="21374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2023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6286500" y="3348782"/>
            <a:ext cx="5715000" cy="57150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25" name="Text 22"/>
          <p:cNvSpPr/>
          <p:nvPr/>
        </p:nvSpPr>
        <p:spPr>
          <a:xfrm>
            <a:off x="6286500" y="3501182"/>
            <a:ext cx="5886450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9"/>
              </a:lnSpc>
              <a:buNone/>
            </a:pPr>
            <a:r>
              <a:rPr lang="en-US" sz="2850" b="1" spc="-43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Fact_RegionStats</a:t>
            </a:r>
            <a:endParaRPr lang="en-US" sz="2850" dirty="0"/>
          </a:p>
        </p:txBody>
      </p:sp>
      <p:sp>
        <p:nvSpPr>
          <p:cNvPr id="26" name="Shape 23"/>
          <p:cNvSpPr/>
          <p:nvPr/>
        </p:nvSpPr>
        <p:spPr>
          <a:xfrm>
            <a:off x="6286500" y="4157365"/>
            <a:ext cx="5715000" cy="95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7" name="Text 24"/>
          <p:cNvSpPr/>
          <p:nvPr/>
        </p:nvSpPr>
        <p:spPr>
          <a:xfrm>
            <a:off x="6286500" y="4281190"/>
            <a:ext cx="33528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region_id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9486900" y="4281190"/>
            <a:ext cx="276606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48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6286500" y="4679305"/>
            <a:ext cx="33528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date_id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9486900" y="4679305"/>
            <a:ext cx="276606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6286500" y="5077420"/>
            <a:ext cx="33528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total_pop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9486900" y="5077420"/>
            <a:ext cx="276606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1,527,807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6286500" y="5475536"/>
            <a:ext cx="33528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elderly_pop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9486900" y="5475536"/>
            <a:ext cx="276606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366,555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6286500" y="5873651"/>
            <a:ext cx="33528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aging_rate</a:t>
            </a:r>
            <a:endParaRPr lang="en-US" sz="1950" dirty="0"/>
          </a:p>
        </p:txBody>
      </p:sp>
      <p:sp>
        <p:nvSpPr>
          <p:cNvPr id="36" name="Text 33"/>
          <p:cNvSpPr/>
          <p:nvPr/>
        </p:nvSpPr>
        <p:spPr>
          <a:xfrm>
            <a:off x="9486900" y="5873651"/>
            <a:ext cx="276606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24.0%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6286500" y="6271766"/>
            <a:ext cx="33528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medical_beds</a:t>
            </a:r>
            <a:endParaRPr lang="en-US" sz="1950" dirty="0"/>
          </a:p>
        </p:txBody>
      </p:sp>
      <p:sp>
        <p:nvSpPr>
          <p:cNvPr id="38" name="Text 35"/>
          <p:cNvSpPr/>
          <p:nvPr/>
        </p:nvSpPr>
        <p:spPr>
          <a:xfrm>
            <a:off x="9486900" y="6271766"/>
            <a:ext cx="276606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16,534</a:t>
            </a:r>
            <a:endParaRPr lang="en-US" sz="1950" dirty="0"/>
          </a:p>
        </p:txBody>
      </p:sp>
      <p:sp>
        <p:nvSpPr>
          <p:cNvPr id="39" name="Text 36"/>
          <p:cNvSpPr/>
          <p:nvPr/>
        </p:nvSpPr>
        <p:spPr>
          <a:xfrm>
            <a:off x="6286500" y="6669881"/>
            <a:ext cx="33528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medical_beds_per_10k</a:t>
            </a:r>
            <a:endParaRPr lang="en-US" sz="1950" dirty="0"/>
          </a:p>
        </p:txBody>
      </p:sp>
      <p:sp>
        <p:nvSpPr>
          <p:cNvPr id="40" name="Text 37"/>
          <p:cNvSpPr/>
          <p:nvPr/>
        </p:nvSpPr>
        <p:spPr>
          <a:xfrm>
            <a:off x="9486900" y="6669881"/>
            <a:ext cx="276606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89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≈ 108.2</a:t>
            </a:r>
            <a:endParaRPr lang="en-US" sz="1950" dirty="0"/>
          </a:p>
        </p:txBody>
      </p:sp>
      <p:sp>
        <p:nvSpPr>
          <p:cNvPr id="41" name="Shape 38"/>
          <p:cNvSpPr/>
          <p:nvPr/>
        </p:nvSpPr>
        <p:spPr>
          <a:xfrm>
            <a:off x="13335000" y="2967782"/>
            <a:ext cx="4000500" cy="38100"/>
          </a:xfrm>
          <a:prstGeom prst="rect">
            <a:avLst/>
          </a:prstGeom>
          <a:solidFill>
            <a:srgbClr val="9B9797"/>
          </a:solidFill>
          <a:ln/>
        </p:spPr>
      </p:sp>
      <p:sp>
        <p:nvSpPr>
          <p:cNvPr id="42" name="Text 39"/>
          <p:cNvSpPr/>
          <p:nvPr/>
        </p:nvSpPr>
        <p:spPr>
          <a:xfrm>
            <a:off x="13335000" y="3101132"/>
            <a:ext cx="412051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spc="-25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Fact_Population</a:t>
            </a:r>
            <a:endParaRPr lang="en-US" sz="2550" dirty="0"/>
          </a:p>
        </p:txBody>
      </p:sp>
      <p:sp>
        <p:nvSpPr>
          <p:cNvPr id="43" name="Shape 40"/>
          <p:cNvSpPr/>
          <p:nvPr/>
        </p:nvSpPr>
        <p:spPr>
          <a:xfrm>
            <a:off x="13335000" y="3698230"/>
            <a:ext cx="4000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13335000" y="3803005"/>
            <a:ext cx="20955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total_pop</a:t>
            </a:r>
            <a:endParaRPr lang="en-US" sz="1950" dirty="0"/>
          </a:p>
        </p:txBody>
      </p:sp>
      <p:sp>
        <p:nvSpPr>
          <p:cNvPr id="45" name="Text 42"/>
          <p:cNvSpPr/>
          <p:nvPr/>
        </p:nvSpPr>
        <p:spPr>
          <a:xfrm>
            <a:off x="15392400" y="3803005"/>
            <a:ext cx="21374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1,527,807</a:t>
            </a:r>
            <a:endParaRPr lang="en-US" sz="1950" dirty="0"/>
          </a:p>
        </p:txBody>
      </p:sp>
      <p:sp>
        <p:nvSpPr>
          <p:cNvPr id="46" name="Text 43"/>
          <p:cNvSpPr/>
          <p:nvPr/>
        </p:nvSpPr>
        <p:spPr>
          <a:xfrm>
            <a:off x="13335000" y="4213473"/>
            <a:ext cx="20955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aging_rate</a:t>
            </a:r>
            <a:endParaRPr lang="en-US" sz="1950" dirty="0"/>
          </a:p>
        </p:txBody>
      </p:sp>
      <p:sp>
        <p:nvSpPr>
          <p:cNvPr id="47" name="Text 44"/>
          <p:cNvSpPr/>
          <p:nvPr/>
        </p:nvSpPr>
        <p:spPr>
          <a:xfrm>
            <a:off x="15392400" y="4213473"/>
            <a:ext cx="21374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24.0%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13335000" y="5444282"/>
            <a:ext cx="4000500" cy="38100"/>
          </a:xfrm>
          <a:prstGeom prst="rect">
            <a:avLst/>
          </a:prstGeom>
          <a:solidFill>
            <a:srgbClr val="9B9797"/>
          </a:solidFill>
          <a:ln/>
        </p:spPr>
      </p:sp>
      <p:sp>
        <p:nvSpPr>
          <p:cNvPr id="49" name="Text 46"/>
          <p:cNvSpPr/>
          <p:nvPr/>
        </p:nvSpPr>
        <p:spPr>
          <a:xfrm>
            <a:off x="13335000" y="5577632"/>
            <a:ext cx="412051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spc="-25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Fact_Infra</a:t>
            </a:r>
            <a:endParaRPr lang="en-US" sz="2550" dirty="0"/>
          </a:p>
        </p:txBody>
      </p:sp>
      <p:sp>
        <p:nvSpPr>
          <p:cNvPr id="50" name="Shape 47"/>
          <p:cNvSpPr/>
          <p:nvPr/>
        </p:nvSpPr>
        <p:spPr>
          <a:xfrm>
            <a:off x="13335000" y="6174730"/>
            <a:ext cx="4000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13335000" y="6279505"/>
            <a:ext cx="20955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medical_beds</a:t>
            </a:r>
            <a:endParaRPr lang="en-US" sz="1950" dirty="0"/>
          </a:p>
        </p:txBody>
      </p:sp>
      <p:sp>
        <p:nvSpPr>
          <p:cNvPr id="52" name="Text 49"/>
          <p:cNvSpPr/>
          <p:nvPr/>
        </p:nvSpPr>
        <p:spPr>
          <a:xfrm>
            <a:off x="15392400" y="6279505"/>
            <a:ext cx="21374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16,534</a:t>
            </a:r>
            <a:endParaRPr lang="en-US" sz="1950" dirty="0"/>
          </a:p>
        </p:txBody>
      </p:sp>
      <p:sp>
        <p:nvSpPr>
          <p:cNvPr id="53" name="Text 50"/>
          <p:cNvSpPr/>
          <p:nvPr/>
        </p:nvSpPr>
        <p:spPr>
          <a:xfrm>
            <a:off x="13335000" y="6689973"/>
            <a:ext cx="20955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…_per_10k</a:t>
            </a:r>
            <a:endParaRPr lang="en-US" sz="1950" dirty="0"/>
          </a:p>
        </p:txBody>
      </p:sp>
      <p:sp>
        <p:nvSpPr>
          <p:cNvPr id="54" name="Text 51"/>
          <p:cNvSpPr/>
          <p:nvPr/>
        </p:nvSpPr>
        <p:spPr>
          <a:xfrm>
            <a:off x="15392400" y="6689973"/>
            <a:ext cx="21374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≈ 108.2</a:t>
            </a:r>
            <a:endParaRPr lang="en-US" sz="1950" dirty="0"/>
          </a:p>
        </p:txBody>
      </p:sp>
      <p:sp>
        <p:nvSpPr>
          <p:cNvPr id="55" name="Shape 52"/>
          <p:cNvSpPr/>
          <p:nvPr/>
        </p:nvSpPr>
        <p:spPr>
          <a:xfrm>
            <a:off x="5286375" y="3558332"/>
            <a:ext cx="1191220" cy="392311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6" name="Text 53"/>
          <p:cNvSpPr/>
          <p:nvPr/>
        </p:nvSpPr>
        <p:spPr>
          <a:xfrm>
            <a:off x="5362575" y="3577382"/>
            <a:ext cx="111502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region_id</a:t>
            </a:r>
            <a:endParaRPr lang="en-US" sz="1800" dirty="0"/>
          </a:p>
        </p:txBody>
      </p:sp>
      <p:sp>
        <p:nvSpPr>
          <p:cNvPr id="57" name="Shape 54"/>
          <p:cNvSpPr/>
          <p:nvPr/>
        </p:nvSpPr>
        <p:spPr>
          <a:xfrm>
            <a:off x="5286375" y="5891957"/>
            <a:ext cx="944314" cy="392311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8" name="Text 55"/>
          <p:cNvSpPr/>
          <p:nvPr/>
        </p:nvSpPr>
        <p:spPr>
          <a:xfrm>
            <a:off x="5362575" y="5911007"/>
            <a:ext cx="86811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date_id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16383000" cy="476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47725"/>
            <a:ext cx="190690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DIMENSION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88418" y="847725"/>
            <a:ext cx="31317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강원특별자치도 · 2023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335286"/>
            <a:ext cx="16383000" cy="95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63911"/>
            <a:ext cx="180213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2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차원 테이블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2662982"/>
            <a:ext cx="13620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74"/>
              </a:lnSpc>
              <a:buNone/>
            </a:pPr>
            <a:r>
              <a:rPr lang="en-US" sz="2550" dirty="0">
                <a:solidFill>
                  <a:srgbClr val="44414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지역과 시점을 각각 하나의 PK로 식별한다. 이 두 키가 팩트 테이블의 FK가 된다.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742134"/>
            <a:ext cx="7715250" cy="476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923109"/>
            <a:ext cx="2798802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5"/>
              </a:lnSpc>
              <a:buNone/>
            </a:pPr>
            <a:r>
              <a:rPr lang="en-US" sz="3450" b="1" spc="-5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Dim_Region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8082409" y="4161234"/>
            <a:ext cx="66154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24" kern="0" dirty="0">
                <a:solidFill>
                  <a:srgbClr val="7D79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4735562"/>
            <a:ext cx="771525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916537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region_id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00500" y="4907012"/>
            <a:ext cx="3987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56361" y="5011787"/>
            <a:ext cx="40436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650" spc="198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PK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2500" y="5480298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country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000500" y="5480298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52500" y="6044059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region_name_kr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000500" y="6044059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강원특별자치도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620250" y="3742134"/>
            <a:ext cx="7715250" cy="476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0" name="Text 18"/>
          <p:cNvSpPr/>
          <p:nvPr/>
        </p:nvSpPr>
        <p:spPr>
          <a:xfrm>
            <a:off x="9620250" y="3923109"/>
            <a:ext cx="2240220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5"/>
              </a:lnSpc>
              <a:buNone/>
            </a:pPr>
            <a:r>
              <a:rPr lang="en-US" sz="3450" b="1" spc="-5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Dim_Date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6750159" y="4161234"/>
            <a:ext cx="66154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24" kern="0" dirty="0">
                <a:solidFill>
                  <a:srgbClr val="7D79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20250" y="4735562"/>
            <a:ext cx="771525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620250" y="4916537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date_id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668250" y="4907012"/>
            <a:ext cx="237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962930" y="5011787"/>
            <a:ext cx="40436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650" spc="198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PK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620250" y="5480298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year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668250" y="5480298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2023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16383000" cy="476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47725"/>
            <a:ext cx="8267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88418" y="847725"/>
            <a:ext cx="31317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강원특별자치도 · 2023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335286"/>
            <a:ext cx="16383000" cy="95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63911"/>
            <a:ext cx="180213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2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팩트 테이블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2967782"/>
            <a:ext cx="8434388" cy="57150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158282"/>
            <a:ext cx="3863742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5"/>
              </a:lnSpc>
              <a:buNone/>
            </a:pPr>
            <a:r>
              <a:rPr lang="en-US" sz="3450" b="1" spc="-5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Fact_RegionStats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8654653" y="3396407"/>
            <a:ext cx="80843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24" kern="0" dirty="0">
                <a:solidFill>
                  <a:srgbClr val="AA0B5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970734"/>
            <a:ext cx="8434388" cy="95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151709"/>
            <a:ext cx="3352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region_id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191000" y="4142184"/>
            <a:ext cx="3786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48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626769" y="4227909"/>
            <a:ext cx="40153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650" spc="198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2500" y="4656534"/>
            <a:ext cx="3352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date_id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191000" y="4647009"/>
            <a:ext cx="2274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4475559" y="4732734"/>
            <a:ext cx="40153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650" spc="198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52500" y="5161359"/>
            <a:ext cx="3352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total_pop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191000" y="5161359"/>
            <a:ext cx="57154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1,527,807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" y="5666184"/>
            <a:ext cx="3352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elderly_pop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4191000" y="5666184"/>
            <a:ext cx="57154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366,555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52500" y="6171009"/>
            <a:ext cx="3352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aging_rate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4191000" y="6171009"/>
            <a:ext cx="57154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24.0%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52500" y="6675834"/>
            <a:ext cx="3352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medical_beds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4191000" y="6675834"/>
            <a:ext cx="57154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16,534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434638" y="2967782"/>
            <a:ext cx="7590949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351" kern="0" dirty="0">
                <a:solidFill>
                  <a:srgbClr val="7D79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파생 지표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434638" y="3542109"/>
            <a:ext cx="7590949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medical_beds_per_10k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434638" y="4158258"/>
            <a:ext cx="7590949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04"/>
              </a:lnSpc>
              <a:buNone/>
            </a:pPr>
            <a:r>
              <a:rPr lang="en-US" sz="8700" b="1" spc="-174" kern="0" dirty="0">
                <a:solidFill>
                  <a:srgbClr val="AA0B5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≈ 108.2</a:t>
            </a:r>
            <a:endParaRPr lang="en-US" sz="8700" dirty="0"/>
          </a:p>
        </p:txBody>
      </p:sp>
      <p:sp>
        <p:nvSpPr>
          <p:cNvPr id="28" name="Shape 26"/>
          <p:cNvSpPr/>
          <p:nvPr/>
        </p:nvSpPr>
        <p:spPr>
          <a:xfrm>
            <a:off x="10434638" y="5623173"/>
            <a:ext cx="690086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434638" y="5823198"/>
            <a:ext cx="710788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98"/>
              </a:lnSpc>
              <a:buNone/>
            </a:pPr>
            <a:r>
              <a:rPr lang="en-US" sz="2250" dirty="0">
                <a:solidFill>
                  <a:srgbClr val="44414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medical_beds ÷ total_pop × 10,000 으로 계산되며, 팩트 테이블에 저장된 값이 아니다.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16383000" cy="476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47725"/>
            <a:ext cx="8782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88418" y="847725"/>
            <a:ext cx="31317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강원특별자치도 · 2023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335286"/>
            <a:ext cx="16383000" cy="95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63911"/>
            <a:ext cx="180213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2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뷰 분기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2662982"/>
            <a:ext cx="1275397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74"/>
              </a:lnSpc>
              <a:buNone/>
            </a:pPr>
            <a:r>
              <a:rPr lang="en-US" sz="2550" dirty="0">
                <a:solidFill>
                  <a:srgbClr val="44414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두 뷰는 같은 팩트 행에서 각각 필요한 지표만 골라 보여 준다. region_id 48, year 2023은 양쪽에 그대로 남는다.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4211687"/>
            <a:ext cx="7715250" cy="47625"/>
          </a:xfrm>
          <a:prstGeom prst="rect">
            <a:avLst/>
          </a:prstGeom>
          <a:solidFill>
            <a:srgbClr val="9B9797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392662"/>
            <a:ext cx="3674328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5"/>
              </a:lnSpc>
              <a:buNone/>
            </a:pPr>
            <a:r>
              <a:rPr lang="en-US" sz="3450" b="1" spc="-5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Fact_Population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7884021" y="4630787"/>
            <a:ext cx="85992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24" kern="0" dirty="0">
                <a:solidFill>
                  <a:srgbClr val="7D79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VIEW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5205115"/>
            <a:ext cx="771525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5386090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region_id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00500" y="5386090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" y="5949851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year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00500" y="5949851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52500" y="6513612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total_pop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000500" y="6513612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1,527,807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2500" y="7077373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aging_rate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000500" y="7077373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24.0%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620250" y="4211687"/>
            <a:ext cx="7715250" cy="47625"/>
          </a:xfrm>
          <a:prstGeom prst="rect">
            <a:avLst/>
          </a:prstGeom>
          <a:solidFill>
            <a:srgbClr val="9B9797"/>
          </a:solidFill>
          <a:ln/>
        </p:spPr>
      </p:sp>
      <p:sp>
        <p:nvSpPr>
          <p:cNvPr id="21" name="Text 19"/>
          <p:cNvSpPr/>
          <p:nvPr/>
        </p:nvSpPr>
        <p:spPr>
          <a:xfrm>
            <a:off x="9620250" y="4392662"/>
            <a:ext cx="2327642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5"/>
              </a:lnSpc>
              <a:buNone/>
            </a:pPr>
            <a:r>
              <a:rPr lang="en-US" sz="3450" b="1" spc="-5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Fact_Infra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6551771" y="4630787"/>
            <a:ext cx="85992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24" kern="0" dirty="0">
                <a:solidFill>
                  <a:srgbClr val="7D79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VIEW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20250" y="5205115"/>
            <a:ext cx="771525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620250" y="5386090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region_id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668250" y="5386090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20250" y="5949851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year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668250" y="5949851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620250" y="6513612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medical_beds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668250" y="6513612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16,534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620250" y="7077373"/>
            <a:ext cx="3143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medical_beds_per_10k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2668250" y="7077373"/>
            <a:ext cx="51339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≈ 108.2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16383000" cy="476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47725"/>
            <a:ext cx="164234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88418" y="847725"/>
            <a:ext cx="31317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1800" spc="360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강원특별자치도 · 2023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335286"/>
            <a:ext cx="16383000" cy="95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63911"/>
            <a:ext cx="180213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2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정리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3120182"/>
            <a:ext cx="1219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5400" b="1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552700" y="3301157"/>
            <a:ext cx="145846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04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Dim_Region과 Dim_Date가 각각 PK를 하나씩 갖는다.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52500" y="4253657"/>
            <a:ext cx="14859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4682282"/>
            <a:ext cx="1219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5400" b="1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2552700" y="4863257"/>
            <a:ext cx="145846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04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두 키가 FK로 들어가면서 Fact_RegionStats 한 행이 확정된다.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2500" y="5815757"/>
            <a:ext cx="14859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6244382"/>
            <a:ext cx="1219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5400" b="1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2552700" y="6425357"/>
            <a:ext cx="145846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04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그 행에서 인구 지표와 의료 인프라 지표가 두 개의 뷰로 갈라진다.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2026-09-06T12:37:33Z</dcterms:created>
  <dcterms:modified xsi:type="dcterms:W3CDTF">2026-09-06T12:37:33Z</dcterms:modified>
</cp:coreProperties>
</file>